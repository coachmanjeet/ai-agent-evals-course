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12192000"/>
  <p:embeddedFontLs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gpD+iXK/ooOTuBqXycRnZqyaWJ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145D02-F1B9-44E9-A974-5EF9C75A9E38}">
  <a:tblStyle styleId="{78145D02-F1B9-44E9-A974-5EF9C75A9E3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regular.fntdata"/><Relationship Id="rId50" Type="http://schemas.openxmlformats.org/officeDocument/2006/relationships/slide" Target="slides/slide45.xml"/><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h70ccc1f0afe26da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 name="Google Shape;34;h70ccc1f0afe26da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h70ccc1f0afe26da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h70ccc1f0afe26da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 name="Google Shape;41;h70ccc1f0afe26dab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h70ccc1f0afe26dab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h70ccc1f0afe26da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 name="Google Shape;47;h70ccc1f0afe26dab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h70ccc1f0afe26dab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70ccc1f0afe26dab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 name="Google Shape;54;h70ccc1f0afe26dab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1150" lvl="0" marL="457200" rtl="0" algn="l">
              <a:lnSpc>
                <a:spcPct val="115000"/>
              </a:lnSpc>
              <a:spcBef>
                <a:spcPts val="0"/>
              </a:spcBef>
              <a:spcAft>
                <a:spcPts val="0"/>
              </a:spcAft>
              <a:buSzPts val="1300"/>
              <a:buAutoNum type="arabicPeriod"/>
            </a:pPr>
            <a:r>
              <a:rPr b="1" lang="en-US" sz="1300">
                <a:solidFill>
                  <a:srgbClr val="000000"/>
                </a:solidFill>
              </a:rPr>
              <a:t>Choose the right judge</a:t>
            </a:r>
            <a:r>
              <a:rPr lang="en-US" sz="1300">
                <a:solidFill>
                  <a:srgbClr val="000000"/>
                </a:solidFill>
              </a:rPr>
              <a:t> based on the task, including deterministic, human, and LLM-based judges.</a:t>
            </a:r>
            <a:endParaRPr sz="1300">
              <a:solidFill>
                <a:srgbClr val="000000"/>
              </a:solidFill>
            </a:endParaRPr>
          </a:p>
          <a:p>
            <a:pPr indent="-311150" lvl="0" marL="457200" rtl="0" algn="l">
              <a:lnSpc>
                <a:spcPct val="115000"/>
              </a:lnSpc>
              <a:spcBef>
                <a:spcPts val="0"/>
              </a:spcBef>
              <a:spcAft>
                <a:spcPts val="0"/>
              </a:spcAft>
              <a:buClr>
                <a:srgbClr val="59575C"/>
              </a:buClr>
              <a:buSzPts val="1300"/>
              <a:buAutoNum type="arabicPeriod"/>
            </a:pPr>
            <a:r>
              <a:rPr b="1" lang="en-US" sz="1300">
                <a:solidFill>
                  <a:srgbClr val="000000"/>
                </a:solidFill>
              </a:rPr>
              <a:t>Predict evaluation failures</a:t>
            </a:r>
            <a:r>
              <a:rPr lang="en-US" sz="1300">
                <a:solidFill>
                  <a:srgbClr val="000000"/>
                </a:solidFill>
              </a:rPr>
              <a:t> by looking at a </a:t>
            </a:r>
            <a:r>
              <a:rPr lang="en-US" sz="1300">
                <a:solidFill>
                  <a:srgbClr val="188038"/>
                </a:solidFill>
                <a:latin typeface="Roboto Mono"/>
                <a:ea typeface="Roboto Mono"/>
                <a:cs typeface="Roboto Mono"/>
                <a:sym typeface="Roboto Mono"/>
              </a:rPr>
              <a:t>skill md</a:t>
            </a:r>
            <a:r>
              <a:rPr lang="en-US" sz="1300">
                <a:solidFill>
                  <a:srgbClr val="000000"/>
                </a:solidFill>
              </a:rPr>
              <a:t>, prompt, workflow, or agent design.</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Balance cost, quality, and speed</a:t>
            </a:r>
            <a:r>
              <a:rPr lang="en-US" sz="1300">
                <a:solidFill>
                  <a:srgbClr val="000000"/>
                </a:solidFill>
              </a:rPr>
              <a:t> when designing evals and making launch decisions.</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Know when evals will lie to you</a:t>
            </a:r>
            <a:r>
              <a:rPr lang="en-US" sz="1300">
                <a:solidFill>
                  <a:srgbClr val="000000"/>
                </a:solidFill>
              </a:rPr>
              <a:t>, including bias, leakage, overfitting, reward hacking, distribution shift.</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Continuously improve your evals</a:t>
            </a:r>
            <a:r>
              <a:rPr lang="en-US" sz="1300">
                <a:solidFill>
                  <a:srgbClr val="000000"/>
                </a:solidFill>
              </a:rPr>
              <a:t> learn from production failures, customer feedback signals</a:t>
            </a:r>
            <a:endParaRPr sz="1300">
              <a:solidFill>
                <a:srgbClr val="000000"/>
              </a:solidFill>
            </a:endParaRPr>
          </a:p>
          <a:p>
            <a:pPr indent="-311150" lvl="0" marL="457200" rtl="0" algn="l">
              <a:lnSpc>
                <a:spcPct val="115000"/>
              </a:lnSpc>
              <a:spcBef>
                <a:spcPts val="0"/>
              </a:spcBef>
              <a:spcAft>
                <a:spcPts val="0"/>
              </a:spcAft>
              <a:buClr>
                <a:srgbClr val="000000"/>
              </a:buClr>
              <a:buSzPts val="1300"/>
              <a:buAutoNum type="arabicPeriod"/>
            </a:pPr>
            <a:r>
              <a:t/>
            </a:r>
            <a:endParaRPr sz="1300">
              <a:solidFill>
                <a:srgbClr val="000000"/>
              </a:solidFill>
            </a:endParaRPr>
          </a:p>
          <a:p>
            <a:pPr indent="0" lvl="0" marL="0" rtl="0" algn="l">
              <a:spcBef>
                <a:spcPts val="0"/>
              </a:spcBef>
              <a:spcAft>
                <a:spcPts val="0"/>
              </a:spcAft>
              <a:buNone/>
            </a:pPr>
            <a:r>
              <a:t/>
            </a:r>
            <a:endParaRPr/>
          </a:p>
        </p:txBody>
      </p:sp>
      <p:sp>
        <p:nvSpPr>
          <p:cNvPr id="55" name="Google Shape;55;h70ccc1f0afe26dab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Rows are the human label, columns are the judge verdict. Human pass: 31 + 4 = 35. Human fail: 7 + 8 = 15. Agreement = (31 + 8) / 50 = 78%.</a:t>
            </a:r>
            <a:endParaRPr/>
          </a:p>
        </p:txBody>
      </p:sp>
      <p:sp>
        <p:nvSpPr>
          <p:cNvPr id="274" name="Google Shape;27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Cohen's kappa for the matrix 31 / 4 / 7 / 8: observed agreement 0.78. Agreement by chance = (35 x 38 + 15 x 12) / 2500 = 0.604. Kappa = (0.78 - 0.604) / (1 - 0.604) = 0.44. False passes: 7 of the 15 cases the humans marked fail, 47%.</a:t>
            </a:r>
            <a:endParaRPr/>
          </a:p>
        </p:txBody>
      </p:sp>
      <p:sp>
        <p:nvSpPr>
          <p:cNvPr id="314" name="Google Shape;31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human labels do not change: 31 pass and 9 fail in both matrices. Before: (28 + 3) / 40 = 77.5%, shown as 78%, kappa 0.27. After: (28 + 8) / 40 = 90%, kappa 0.73. The fix moves 5 cases from false pass to correct fail.</a:t>
            </a:r>
            <a:endParaRPr/>
          </a:p>
        </p:txBody>
      </p:sp>
      <p:sp>
        <p:nvSpPr>
          <p:cNvPr id="423" name="Google Shape;42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Blended average: (82 + 88 + 90) / 3 = 86.7 for A and (91 + 85 + 92) / 3 = 89.3 for B, so +2.7, which reads as about +3.</a:t>
            </a:r>
            <a:endParaRPr/>
          </a:p>
        </p:txBody>
      </p:sp>
      <p:sp>
        <p:nvSpPr>
          <p:cNvPr id="434" name="Google Shape;43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Cells: 93 / 0 / 6 / 1 on 100 cases. The judge says pass 99 times. Agreement = 94 / 100. Agreement by chance = 0.93 x 0.99 + 0.07 x 0.01 = 0.921. Kappa = (0.94 - 0.921) / (1 - 0.921) = 0.24.</a:t>
            </a:r>
            <a:endParaRPr/>
          </a:p>
        </p:txBody>
      </p:sp>
      <p:sp>
        <p:nvSpPr>
          <p:cNvPr id="522" name="Google Shape;52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70ccc1f0afe26da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4" name="Google Shape;564;h70ccc1f0afe26dab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h70ccc1f0afe26dab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8FAFC"/>
        </a:solidFill>
      </p:bgPr>
    </p:bg>
    <p:spTree>
      <p:nvGrpSpPr>
        <p:cNvPr id="11" name="Shape 11"/>
        <p:cNvGrpSpPr/>
        <p:nvPr/>
      </p:nvGrpSpPr>
      <p:grpSpPr>
        <a:xfrm>
          <a:off x="0" y="0"/>
          <a:ext cx="0" cy="0"/>
          <a:chOff x="0" y="0"/>
          <a:chExt cx="0" cy="0"/>
        </a:xfrm>
      </p:grpSpPr>
      <p:sp>
        <p:nvSpPr>
          <p:cNvPr id="12" name="Google Shape;12;p42"/>
          <p:cNvSpPr txBox="1"/>
          <p:nvPr>
            <p:ph type="title"/>
          </p:nvPr>
        </p:nvSpPr>
        <p:spPr>
          <a:xfrm>
            <a:off x="1005840" y="2331720"/>
            <a:ext cx="8686800"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6000"/>
              <a:buFont typeface="Arial"/>
              <a:buNone/>
              <a:defRPr b="1" i="0" sz="6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2"/>
          <p:cNvSpPr txBox="1"/>
          <p:nvPr>
            <p:ph idx="1" type="body"/>
          </p:nvPr>
        </p:nvSpPr>
        <p:spPr>
          <a:xfrm>
            <a:off x="1005840" y="3474720"/>
            <a:ext cx="7863840" cy="914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chemeClr val="accent6"/>
              </a:buClr>
              <a:buSzPts val="2200"/>
              <a:buFont typeface="Arial"/>
              <a:buNone/>
              <a:defRPr b="0" i="0" sz="2200" u="none" cap="none" strike="noStrike">
                <a:solidFill>
                  <a:schemeClr val="accent6"/>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15" name="Google Shape;15;p43"/>
          <p:cNvSpPr txBox="1"/>
          <p:nvPr>
            <p:ph type="title"/>
          </p:nvPr>
        </p:nvSpPr>
        <p:spPr>
          <a:xfrm>
            <a:off x="548640" y="384048"/>
            <a:ext cx="11094415" cy="8686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200"/>
              <a:buFont typeface="Arial"/>
              <a:buNone/>
              <a:defRPr b="0" i="0" sz="2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43"/>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94A3B8"/>
                </a:solidFill>
                <a:latin typeface="Arial"/>
                <a:ea typeface="Arial"/>
                <a:cs typeface="Arial"/>
                <a:sym typeface="Arial"/>
              </a:defRPr>
            </a:lvl1pPr>
            <a:lvl2pPr indent="0" lvl="1" marL="0" marR="0" algn="r">
              <a:spcBef>
                <a:spcPts val="0"/>
              </a:spcBef>
              <a:buNone/>
              <a:defRPr b="0" i="0" sz="1000" u="none" cap="none" strike="noStrike">
                <a:solidFill>
                  <a:srgbClr val="94A3B8"/>
                </a:solidFill>
                <a:latin typeface="Arial"/>
                <a:ea typeface="Arial"/>
                <a:cs typeface="Arial"/>
                <a:sym typeface="Arial"/>
              </a:defRPr>
            </a:lvl2pPr>
            <a:lvl3pPr indent="0" lvl="2" marL="0" marR="0" algn="r">
              <a:spcBef>
                <a:spcPts val="0"/>
              </a:spcBef>
              <a:buNone/>
              <a:defRPr b="0" i="0" sz="1000" u="none" cap="none" strike="noStrike">
                <a:solidFill>
                  <a:srgbClr val="94A3B8"/>
                </a:solidFill>
                <a:latin typeface="Arial"/>
                <a:ea typeface="Arial"/>
                <a:cs typeface="Arial"/>
                <a:sym typeface="Arial"/>
              </a:defRPr>
            </a:lvl3pPr>
            <a:lvl4pPr indent="0" lvl="3" marL="0" marR="0" algn="r">
              <a:spcBef>
                <a:spcPts val="0"/>
              </a:spcBef>
              <a:buNone/>
              <a:defRPr b="0" i="0" sz="1000" u="none" cap="none" strike="noStrike">
                <a:solidFill>
                  <a:srgbClr val="94A3B8"/>
                </a:solidFill>
                <a:latin typeface="Arial"/>
                <a:ea typeface="Arial"/>
                <a:cs typeface="Arial"/>
                <a:sym typeface="Arial"/>
              </a:defRPr>
            </a:lvl4pPr>
            <a:lvl5pPr indent="0" lvl="4" marL="0" marR="0" algn="r">
              <a:spcBef>
                <a:spcPts val="0"/>
              </a:spcBef>
              <a:buNone/>
              <a:defRPr b="0" i="0" sz="1000" u="none" cap="none" strike="noStrike">
                <a:solidFill>
                  <a:srgbClr val="94A3B8"/>
                </a:solidFill>
                <a:latin typeface="Arial"/>
                <a:ea typeface="Arial"/>
                <a:cs typeface="Arial"/>
                <a:sym typeface="Arial"/>
              </a:defRPr>
            </a:lvl5pPr>
            <a:lvl6pPr indent="0" lvl="5" marL="0" marR="0" algn="r">
              <a:spcBef>
                <a:spcPts val="0"/>
              </a:spcBef>
              <a:buNone/>
              <a:defRPr b="0" i="0" sz="1000" u="none" cap="none" strike="noStrike">
                <a:solidFill>
                  <a:srgbClr val="94A3B8"/>
                </a:solidFill>
                <a:latin typeface="Arial"/>
                <a:ea typeface="Arial"/>
                <a:cs typeface="Arial"/>
                <a:sym typeface="Arial"/>
              </a:defRPr>
            </a:lvl6pPr>
            <a:lvl7pPr indent="0" lvl="6" marL="0" marR="0" algn="r">
              <a:spcBef>
                <a:spcPts val="0"/>
              </a:spcBef>
              <a:buNone/>
              <a:defRPr b="0" i="0" sz="1000" u="none" cap="none" strike="noStrike">
                <a:solidFill>
                  <a:srgbClr val="94A3B8"/>
                </a:solidFill>
                <a:latin typeface="Arial"/>
                <a:ea typeface="Arial"/>
                <a:cs typeface="Arial"/>
                <a:sym typeface="Arial"/>
              </a:defRPr>
            </a:lvl7pPr>
            <a:lvl8pPr indent="0" lvl="7" marL="0" marR="0" algn="r">
              <a:spcBef>
                <a:spcPts val="0"/>
              </a:spcBef>
              <a:buNone/>
              <a:defRPr b="0" i="0" sz="1000" u="none" cap="none" strike="noStrike">
                <a:solidFill>
                  <a:srgbClr val="94A3B8"/>
                </a:solidFill>
                <a:latin typeface="Arial"/>
                <a:ea typeface="Arial"/>
                <a:cs typeface="Arial"/>
                <a:sym typeface="Arial"/>
              </a:defRPr>
            </a:lvl8pPr>
            <a:lvl9pPr indent="0" lvl="8" marL="0" marR="0" algn="r">
              <a:spcBef>
                <a:spcPts val="0"/>
              </a:spcBef>
              <a:buNone/>
              <a:defRPr b="0" i="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rgbClr val="FFFFFF"/>
        </a:solidFill>
      </p:bgPr>
    </p:bg>
    <p:spTree>
      <p:nvGrpSpPr>
        <p:cNvPr id="17" name="Shape 17"/>
        <p:cNvGrpSpPr/>
        <p:nvPr/>
      </p:nvGrpSpPr>
      <p:grpSpPr>
        <a:xfrm>
          <a:off x="0" y="0"/>
          <a:ext cx="0" cy="0"/>
          <a:chOff x="0" y="0"/>
          <a:chExt cx="0" cy="0"/>
        </a:xfrm>
      </p:grpSpPr>
      <p:sp>
        <p:nvSpPr>
          <p:cNvPr id="18" name="Google Shape;18;p44"/>
          <p:cNvSpPr txBox="1"/>
          <p:nvPr>
            <p:ph type="title"/>
          </p:nvPr>
        </p:nvSpPr>
        <p:spPr>
          <a:xfrm>
            <a:off x="1097280" y="2880360"/>
            <a:ext cx="9994392" cy="13716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 name="Shape 19"/>
        <p:cNvGrpSpPr/>
        <p:nvPr/>
      </p:nvGrpSpPr>
      <p:grpSpPr>
        <a:xfrm>
          <a:off x="0" y="0"/>
          <a:ext cx="0" cy="0"/>
          <a:chOff x="0" y="0"/>
          <a:chExt cx="0" cy="0"/>
        </a:xfrm>
      </p:grpSpPr>
      <p:sp>
        <p:nvSpPr>
          <p:cNvPr id="20" name="Google Shape;20;p45"/>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94A3B8"/>
                </a:solidFill>
                <a:latin typeface="Arial"/>
                <a:ea typeface="Arial"/>
                <a:cs typeface="Arial"/>
                <a:sym typeface="Arial"/>
              </a:defRPr>
            </a:lvl1pPr>
            <a:lvl2pPr indent="0" lvl="1" marL="0" marR="0" algn="r">
              <a:spcBef>
                <a:spcPts val="0"/>
              </a:spcBef>
              <a:buNone/>
              <a:defRPr b="0" i="0" sz="1000" u="none" cap="none" strike="noStrike">
                <a:solidFill>
                  <a:srgbClr val="94A3B8"/>
                </a:solidFill>
                <a:latin typeface="Arial"/>
                <a:ea typeface="Arial"/>
                <a:cs typeface="Arial"/>
                <a:sym typeface="Arial"/>
              </a:defRPr>
            </a:lvl2pPr>
            <a:lvl3pPr indent="0" lvl="2" marL="0" marR="0" algn="r">
              <a:spcBef>
                <a:spcPts val="0"/>
              </a:spcBef>
              <a:buNone/>
              <a:defRPr b="0" i="0" sz="1000" u="none" cap="none" strike="noStrike">
                <a:solidFill>
                  <a:srgbClr val="94A3B8"/>
                </a:solidFill>
                <a:latin typeface="Arial"/>
                <a:ea typeface="Arial"/>
                <a:cs typeface="Arial"/>
                <a:sym typeface="Arial"/>
              </a:defRPr>
            </a:lvl3pPr>
            <a:lvl4pPr indent="0" lvl="3" marL="0" marR="0" algn="r">
              <a:spcBef>
                <a:spcPts val="0"/>
              </a:spcBef>
              <a:buNone/>
              <a:defRPr b="0" i="0" sz="1000" u="none" cap="none" strike="noStrike">
                <a:solidFill>
                  <a:srgbClr val="94A3B8"/>
                </a:solidFill>
                <a:latin typeface="Arial"/>
                <a:ea typeface="Arial"/>
                <a:cs typeface="Arial"/>
                <a:sym typeface="Arial"/>
              </a:defRPr>
            </a:lvl4pPr>
            <a:lvl5pPr indent="0" lvl="4" marL="0" marR="0" algn="r">
              <a:spcBef>
                <a:spcPts val="0"/>
              </a:spcBef>
              <a:buNone/>
              <a:defRPr b="0" i="0" sz="1000" u="none" cap="none" strike="noStrike">
                <a:solidFill>
                  <a:srgbClr val="94A3B8"/>
                </a:solidFill>
                <a:latin typeface="Arial"/>
                <a:ea typeface="Arial"/>
                <a:cs typeface="Arial"/>
                <a:sym typeface="Arial"/>
              </a:defRPr>
            </a:lvl5pPr>
            <a:lvl6pPr indent="0" lvl="5" marL="0" marR="0" algn="r">
              <a:spcBef>
                <a:spcPts val="0"/>
              </a:spcBef>
              <a:buNone/>
              <a:defRPr b="0" i="0" sz="1000" u="none" cap="none" strike="noStrike">
                <a:solidFill>
                  <a:srgbClr val="94A3B8"/>
                </a:solidFill>
                <a:latin typeface="Arial"/>
                <a:ea typeface="Arial"/>
                <a:cs typeface="Arial"/>
                <a:sym typeface="Arial"/>
              </a:defRPr>
            </a:lvl6pPr>
            <a:lvl7pPr indent="0" lvl="6" marL="0" marR="0" algn="r">
              <a:spcBef>
                <a:spcPts val="0"/>
              </a:spcBef>
              <a:buNone/>
              <a:defRPr b="0" i="0" sz="1000" u="none" cap="none" strike="noStrike">
                <a:solidFill>
                  <a:srgbClr val="94A3B8"/>
                </a:solidFill>
                <a:latin typeface="Arial"/>
                <a:ea typeface="Arial"/>
                <a:cs typeface="Arial"/>
                <a:sym typeface="Arial"/>
              </a:defRPr>
            </a:lvl7pPr>
            <a:lvl8pPr indent="0" lvl="7" marL="0" marR="0" algn="r">
              <a:spcBef>
                <a:spcPts val="0"/>
              </a:spcBef>
              <a:buNone/>
              <a:defRPr b="0" i="0" sz="1000" u="none" cap="none" strike="noStrike">
                <a:solidFill>
                  <a:srgbClr val="94A3B8"/>
                </a:solidFill>
                <a:latin typeface="Arial"/>
                <a:ea typeface="Arial"/>
                <a:cs typeface="Arial"/>
                <a:sym typeface="Arial"/>
              </a:defRPr>
            </a:lvl8pPr>
            <a:lvl9pPr indent="0" lvl="8" marL="0" marR="0" algn="r">
              <a:spcBef>
                <a:spcPts val="0"/>
              </a:spcBef>
              <a:buNone/>
              <a:defRPr b="0" i="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1"/>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94A3B8"/>
                </a:solidFill>
                <a:latin typeface="Arial"/>
                <a:ea typeface="Arial"/>
                <a:cs typeface="Arial"/>
                <a:sym typeface="Arial"/>
              </a:defRPr>
            </a:lvl1pPr>
            <a:lvl2pPr indent="0" lvl="1" marL="0" marR="0" rtl="0" algn="r">
              <a:spcBef>
                <a:spcPts val="0"/>
              </a:spcBef>
              <a:buNone/>
              <a:defRPr b="0" i="0" sz="1000" u="none" cap="none" strike="noStrike">
                <a:solidFill>
                  <a:srgbClr val="94A3B8"/>
                </a:solidFill>
                <a:latin typeface="Arial"/>
                <a:ea typeface="Arial"/>
                <a:cs typeface="Arial"/>
                <a:sym typeface="Arial"/>
              </a:defRPr>
            </a:lvl2pPr>
            <a:lvl3pPr indent="0" lvl="2" marL="0" marR="0" rtl="0" algn="r">
              <a:spcBef>
                <a:spcPts val="0"/>
              </a:spcBef>
              <a:buNone/>
              <a:defRPr b="0" i="0" sz="1000" u="none" cap="none" strike="noStrike">
                <a:solidFill>
                  <a:srgbClr val="94A3B8"/>
                </a:solidFill>
                <a:latin typeface="Arial"/>
                <a:ea typeface="Arial"/>
                <a:cs typeface="Arial"/>
                <a:sym typeface="Arial"/>
              </a:defRPr>
            </a:lvl3pPr>
            <a:lvl4pPr indent="0" lvl="3" marL="0" marR="0" rtl="0" algn="r">
              <a:spcBef>
                <a:spcPts val="0"/>
              </a:spcBef>
              <a:buNone/>
              <a:defRPr b="0" i="0" sz="1000" u="none" cap="none" strike="noStrike">
                <a:solidFill>
                  <a:srgbClr val="94A3B8"/>
                </a:solidFill>
                <a:latin typeface="Arial"/>
                <a:ea typeface="Arial"/>
                <a:cs typeface="Arial"/>
                <a:sym typeface="Arial"/>
              </a:defRPr>
            </a:lvl4pPr>
            <a:lvl5pPr indent="0" lvl="4" marL="0" marR="0" rtl="0" algn="r">
              <a:spcBef>
                <a:spcPts val="0"/>
              </a:spcBef>
              <a:buNone/>
              <a:defRPr b="0" i="0" sz="1000" u="none" cap="none" strike="noStrike">
                <a:solidFill>
                  <a:srgbClr val="94A3B8"/>
                </a:solidFill>
                <a:latin typeface="Arial"/>
                <a:ea typeface="Arial"/>
                <a:cs typeface="Arial"/>
                <a:sym typeface="Arial"/>
              </a:defRPr>
            </a:lvl5pPr>
            <a:lvl6pPr indent="0" lvl="5" marL="0" marR="0" rtl="0" algn="r">
              <a:spcBef>
                <a:spcPts val="0"/>
              </a:spcBef>
              <a:buNone/>
              <a:defRPr b="0" i="0" sz="1000" u="none" cap="none" strike="noStrike">
                <a:solidFill>
                  <a:srgbClr val="94A3B8"/>
                </a:solidFill>
                <a:latin typeface="Arial"/>
                <a:ea typeface="Arial"/>
                <a:cs typeface="Arial"/>
                <a:sym typeface="Arial"/>
              </a:defRPr>
            </a:lvl6pPr>
            <a:lvl7pPr indent="0" lvl="6" marL="0" marR="0" rtl="0" algn="r">
              <a:spcBef>
                <a:spcPts val="0"/>
              </a:spcBef>
              <a:buNone/>
              <a:defRPr b="0" i="0" sz="1000" u="none" cap="none" strike="noStrike">
                <a:solidFill>
                  <a:srgbClr val="94A3B8"/>
                </a:solidFill>
                <a:latin typeface="Arial"/>
                <a:ea typeface="Arial"/>
                <a:cs typeface="Arial"/>
                <a:sym typeface="Arial"/>
              </a:defRPr>
            </a:lvl7pPr>
            <a:lvl8pPr indent="0" lvl="7" marL="0" marR="0" rtl="0" algn="r">
              <a:spcBef>
                <a:spcPts val="0"/>
              </a:spcBef>
              <a:buNone/>
              <a:defRPr b="0" i="0" sz="1000" u="none" cap="none" strike="noStrike">
                <a:solidFill>
                  <a:srgbClr val="94A3B8"/>
                </a:solidFill>
                <a:latin typeface="Arial"/>
                <a:ea typeface="Arial"/>
                <a:cs typeface="Arial"/>
                <a:sym typeface="Arial"/>
              </a:defRPr>
            </a:lvl8pPr>
            <a:lvl9pPr indent="0" lvl="8" marL="0" marR="0" rtl="0" algn="r">
              <a:spcBef>
                <a:spcPts val="0"/>
              </a:spcBef>
              <a:buNone/>
              <a:defRPr b="0" i="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ocs.google.com/document/d/1xOq1kZBEW5QK3ma7O9BaIEaNbIQN6YOIf1FO5e4581c/copy" TargetMode="External"/><Relationship Id="rId4" Type="http://schemas.openxmlformats.org/officeDocument/2006/relationships/hyperlink" Target="https://docs.google.com/document/d/1Oo_ZtsNweNrEMTSN9jsE-VWll5DmzLFehB9uzrhOazk/edit?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1005840" y="1847088"/>
            <a:ext cx="1051560" cy="32918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txBox="1"/>
          <p:nvPr/>
        </p:nvSpPr>
        <p:spPr>
          <a:xfrm>
            <a:off x="1005840" y="1847088"/>
            <a:ext cx="10515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Week 2</a:t>
            </a:r>
            <a:endParaRPr b="0" i="0" sz="1200" u="none" cap="none" strike="noStrike">
              <a:solidFill>
                <a:schemeClr val="dk1"/>
              </a:solidFill>
              <a:latin typeface="Arial"/>
              <a:ea typeface="Arial"/>
              <a:cs typeface="Arial"/>
              <a:sym typeface="Arial"/>
            </a:endParaRPr>
          </a:p>
        </p:txBody>
      </p:sp>
      <p:sp>
        <p:nvSpPr>
          <p:cNvPr id="29" name="Google Shape;29;p1"/>
          <p:cNvSpPr txBox="1"/>
          <p:nvPr>
            <p:ph type="title"/>
          </p:nvPr>
        </p:nvSpPr>
        <p:spPr>
          <a:xfrm>
            <a:off x="1005840" y="2331720"/>
            <a:ext cx="8686800"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6000"/>
              <a:buFont typeface="Arial"/>
              <a:buNone/>
            </a:pPr>
            <a:r>
              <a:rPr lang="en-US"/>
              <a:t>AI Evals in Practice</a:t>
            </a:r>
            <a:endParaRPr/>
          </a:p>
        </p:txBody>
      </p:sp>
      <p:sp>
        <p:nvSpPr>
          <p:cNvPr id="30" name="Google Shape;30;p1"/>
          <p:cNvSpPr txBox="1"/>
          <p:nvPr>
            <p:ph idx="1" type="body"/>
          </p:nvPr>
        </p:nvSpPr>
        <p:spPr>
          <a:xfrm>
            <a:off x="1005840" y="3474720"/>
            <a:ext cx="786384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2200"/>
              <a:buNone/>
            </a:pPr>
            <a:r>
              <a:rPr lang="en-US" sz="2200">
                <a:solidFill>
                  <a:schemeClr val="accent6"/>
                </a:solidFill>
              </a:rPr>
              <a:t>Design reliable automated evaluators</a:t>
            </a:r>
            <a:endParaRPr sz="2200"/>
          </a:p>
        </p:txBody>
      </p:sp>
      <p:sp>
        <p:nvSpPr>
          <p:cNvPr id="31" name="Google Shape;31;p1"/>
          <p:cNvSpPr txBox="1"/>
          <p:nvPr/>
        </p:nvSpPr>
        <p:spPr>
          <a:xfrm>
            <a:off x="1005840" y="48006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Instructor: </a:t>
            </a:r>
            <a:r>
              <a:rPr b="1" i="0" lang="en-US" sz="1400" u="none" cap="none" strike="noStrike">
                <a:solidFill>
                  <a:schemeClr val="dk1"/>
                </a:solidFill>
                <a:latin typeface="Arial"/>
                <a:ea typeface="Arial"/>
                <a:cs typeface="Arial"/>
                <a:sym typeface="Arial"/>
              </a:rPr>
              <a:t>Manjeet Singh</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h70ccc1f0afe26dab_0_0"/>
          <p:cNvSpPr txBox="1"/>
          <p:nvPr>
            <p:ph type="title"/>
          </p:nvPr>
        </p:nvSpPr>
        <p:spPr>
          <a:xfrm>
            <a:off x="166000" y="2743200"/>
            <a:ext cx="4629600" cy="1371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Show your work and Tag me on LinkedIn</a:t>
            </a:r>
            <a:endParaRPr/>
          </a:p>
        </p:txBody>
      </p:sp>
      <p:pic>
        <p:nvPicPr>
          <p:cNvPr id="38" name="Google Shape;38;h70ccc1f0afe26dab_0_0"/>
          <p:cNvPicPr preferRelativeResize="0"/>
          <p:nvPr/>
        </p:nvPicPr>
        <p:blipFill>
          <a:blip r:embed="rId3">
            <a:alphaModFix/>
          </a:blip>
          <a:stretch>
            <a:fillRect/>
          </a:stretch>
        </p:blipFill>
        <p:spPr>
          <a:xfrm>
            <a:off x="5292575" y="1660025"/>
            <a:ext cx="6017075" cy="381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h70ccc1f0afe26dab_0_25"/>
          <p:cNvSpPr txBox="1"/>
          <p:nvPr>
            <p:ph type="title"/>
          </p:nvPr>
        </p:nvSpPr>
        <p:spPr>
          <a:xfrm>
            <a:off x="1097280" y="2880360"/>
            <a:ext cx="9994500" cy="1371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Week1 Office Hours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h70ccc1f0afe26dab_0_35"/>
          <p:cNvSpPr txBox="1"/>
          <p:nvPr>
            <p:ph type="title"/>
          </p:nvPr>
        </p:nvSpPr>
        <p:spPr>
          <a:xfrm>
            <a:off x="1097280" y="2880360"/>
            <a:ext cx="9994500" cy="1371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b="0" lang="en-US" sz="3300">
                <a:solidFill>
                  <a:srgbClr val="59575C"/>
                </a:solidFill>
              </a:rPr>
              <a:t>Eval Driven Development:</a:t>
            </a:r>
            <a:r>
              <a:rPr b="0" lang="en-US" sz="3300">
                <a:solidFill>
                  <a:srgbClr val="59575C"/>
                </a:solidFill>
                <a:uFill>
                  <a:noFill/>
                </a:uFill>
                <a:hlinkClick r:id="rId3">
                  <a:extLst>
                    <a:ext uri="{A12FA001-AC4F-418D-AE19-62706E023703}">
                      <ahyp:hlinkClr val="tx"/>
                    </a:ext>
                  </a:extLst>
                </a:hlinkClick>
              </a:rPr>
              <a:t> </a:t>
            </a:r>
            <a:r>
              <a:rPr lang="en-US" u="sng">
                <a:solidFill>
                  <a:schemeClr val="hlink"/>
                </a:solidFill>
                <a:hlinkClick r:id="rId4"/>
              </a:rPr>
              <a:t>Live Demonstration</a:t>
            </a:r>
            <a:endParaRPr/>
          </a:p>
        </p:txBody>
      </p:sp>
      <p:sp>
        <p:nvSpPr>
          <p:cNvPr id="51" name="Google Shape;51;h70ccc1f0afe26dab_0_35"/>
          <p:cNvSpPr txBox="1"/>
          <p:nvPr/>
        </p:nvSpPr>
        <p:spPr>
          <a:xfrm>
            <a:off x="3384625" y="3735075"/>
            <a:ext cx="4260600" cy="44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solidFill>
                  <a:schemeClr val="dk1"/>
                </a:solidFill>
              </a:rPr>
              <a:t>10 mins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h70ccc1f0afe26dab_0_54"/>
          <p:cNvSpPr txBox="1"/>
          <p:nvPr>
            <p:ph type="title"/>
          </p:nvPr>
        </p:nvSpPr>
        <p:spPr>
          <a:xfrm>
            <a:off x="548640" y="384048"/>
            <a:ext cx="11094300" cy="868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2400">
                <a:solidFill>
                  <a:srgbClr val="171717"/>
                </a:solidFill>
                <a:highlight>
                  <a:schemeClr val="lt1"/>
                </a:highlight>
              </a:rPr>
              <a:t>What you'll learn in Week 2</a:t>
            </a:r>
            <a:endParaRPr sz="2700"/>
          </a:p>
        </p:txBody>
      </p:sp>
      <p:sp>
        <p:nvSpPr>
          <p:cNvPr id="58" name="Google Shape;58;h70ccc1f0afe26dab_0_54"/>
          <p:cNvSpPr txBox="1"/>
          <p:nvPr/>
        </p:nvSpPr>
        <p:spPr>
          <a:xfrm>
            <a:off x="548650" y="1343000"/>
            <a:ext cx="10490400" cy="4814700"/>
          </a:xfrm>
          <a:prstGeom prst="rect">
            <a:avLst/>
          </a:prstGeom>
          <a:noFill/>
          <a:ln>
            <a:noFill/>
          </a:ln>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SzPts val="2200"/>
              <a:buAutoNum type="arabicPeriod"/>
            </a:pPr>
            <a:r>
              <a:rPr lang="en-US" sz="2200"/>
              <a:t>How to decide how to evaluate a metric?</a:t>
            </a:r>
            <a:endParaRPr sz="2200"/>
          </a:p>
          <a:p>
            <a:pPr indent="-368300" lvl="0" marL="457200" rtl="0" algn="l">
              <a:lnSpc>
                <a:spcPct val="150000"/>
              </a:lnSpc>
              <a:spcBef>
                <a:spcPts val="0"/>
              </a:spcBef>
              <a:spcAft>
                <a:spcPts val="0"/>
              </a:spcAft>
              <a:buSzPts val="2200"/>
              <a:buAutoNum type="arabicPeriod"/>
            </a:pPr>
            <a:r>
              <a:rPr lang="en-US" sz="2200"/>
              <a:t>Learn to design your LLM as judge</a:t>
            </a:r>
            <a:endParaRPr sz="2200"/>
          </a:p>
          <a:p>
            <a:pPr indent="-368300" lvl="0" marL="457200" rtl="0" algn="l">
              <a:lnSpc>
                <a:spcPct val="150000"/>
              </a:lnSpc>
              <a:spcBef>
                <a:spcPts val="0"/>
              </a:spcBef>
              <a:spcAft>
                <a:spcPts val="0"/>
              </a:spcAft>
              <a:buSzPts val="2200"/>
              <a:buAutoNum type="arabicPeriod"/>
            </a:pPr>
            <a:r>
              <a:rPr lang="en-US" sz="2200"/>
              <a:t>Align your LLM judge with Human</a:t>
            </a:r>
            <a:endParaRPr sz="2200"/>
          </a:p>
          <a:p>
            <a:pPr indent="-368300" lvl="0" marL="457200" rtl="0" algn="l">
              <a:lnSpc>
                <a:spcPct val="150000"/>
              </a:lnSpc>
              <a:spcBef>
                <a:spcPts val="0"/>
              </a:spcBef>
              <a:spcAft>
                <a:spcPts val="0"/>
              </a:spcAft>
              <a:buSzPts val="2200"/>
              <a:buAutoNum type="arabicPeriod"/>
            </a:pPr>
            <a:r>
              <a:rPr lang="en-US" sz="2200"/>
              <a:t>How to evaluate multi turn conversation</a:t>
            </a:r>
            <a:endParaRPr sz="2200"/>
          </a:p>
          <a:p>
            <a:pPr indent="-368300" lvl="0" marL="457200" rtl="0" algn="l">
              <a:lnSpc>
                <a:spcPct val="150000"/>
              </a:lnSpc>
              <a:spcBef>
                <a:spcPts val="0"/>
              </a:spcBef>
              <a:spcAft>
                <a:spcPts val="0"/>
              </a:spcAft>
              <a:buSzPts val="2200"/>
              <a:buAutoNum type="arabicPeriod"/>
            </a:pPr>
            <a:r>
              <a:rPr lang="en-US" sz="2200"/>
              <a:t>See an end to end demo of Enterprise EVal</a:t>
            </a:r>
            <a:endParaRPr sz="2200"/>
          </a:p>
          <a:p>
            <a:pPr indent="-368300" lvl="0" marL="457200" rtl="0" algn="l">
              <a:lnSpc>
                <a:spcPct val="150000"/>
              </a:lnSpc>
              <a:spcBef>
                <a:spcPts val="0"/>
              </a:spcBef>
              <a:spcAft>
                <a:spcPts val="0"/>
              </a:spcAft>
              <a:buSzPts val="2200"/>
              <a:buAutoNum type="arabicPeriod"/>
            </a:pPr>
            <a:r>
              <a:t/>
            </a:r>
            <a:endParaRPr sz="2200"/>
          </a:p>
          <a:p>
            <a:pPr indent="0" lvl="0" marL="457200" rtl="0" algn="l">
              <a:lnSpc>
                <a:spcPct val="115000"/>
              </a:lnSpc>
              <a:spcBef>
                <a:spcPts val="0"/>
              </a:spcBef>
              <a:spcAft>
                <a:spcPts val="0"/>
              </a:spcAft>
              <a:buNone/>
            </a:pPr>
            <a:r>
              <a:t/>
            </a:r>
            <a:endParaRPr b="1" sz="3200"/>
          </a:p>
          <a:p>
            <a:pPr indent="0" lvl="0" marL="457200" rtl="0" algn="l">
              <a:spcBef>
                <a:spcPts val="0"/>
              </a:spcBef>
              <a:spcAft>
                <a:spcPts val="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Today: turn failure codes into evaluators you can trust</a:t>
            </a:r>
            <a:endParaRPr sz="2200"/>
          </a:p>
        </p:txBody>
      </p:sp>
      <p:sp>
        <p:nvSpPr>
          <p:cNvPr id="65" name="Google Shape;65;p2"/>
          <p:cNvSpPr txBox="1"/>
          <p:nvPr/>
        </p:nvSpPr>
        <p:spPr>
          <a:xfrm>
            <a:off x="914400" y="1600200"/>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66" name="Google Shape;66;p2"/>
          <p:cNvSpPr txBox="1"/>
          <p:nvPr/>
        </p:nvSpPr>
        <p:spPr>
          <a:xfrm>
            <a:off x="1463040" y="1600200"/>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Choose the right evaluation method</a:t>
            </a:r>
            <a:endParaRPr b="0" i="0" sz="2000" u="none" cap="none" strike="noStrike">
              <a:solidFill>
                <a:schemeClr val="dk1"/>
              </a:solidFill>
              <a:latin typeface="Arial"/>
              <a:ea typeface="Arial"/>
              <a:cs typeface="Arial"/>
              <a:sym typeface="Arial"/>
            </a:endParaRPr>
          </a:p>
        </p:txBody>
      </p:sp>
      <p:sp>
        <p:nvSpPr>
          <p:cNvPr id="67" name="Google Shape;67;p2"/>
          <p:cNvSpPr txBox="1"/>
          <p:nvPr/>
        </p:nvSpPr>
        <p:spPr>
          <a:xfrm>
            <a:off x="9784080" y="1600200"/>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20 min</a:t>
            </a:r>
            <a:endParaRPr b="0" i="0" sz="1600" u="none" cap="none" strike="noStrike">
              <a:solidFill>
                <a:schemeClr val="dk1"/>
              </a:solidFill>
              <a:latin typeface="Arial"/>
              <a:ea typeface="Arial"/>
              <a:cs typeface="Arial"/>
              <a:sym typeface="Arial"/>
            </a:endParaRPr>
          </a:p>
        </p:txBody>
      </p:sp>
      <p:cxnSp>
        <p:nvCxnSpPr>
          <p:cNvPr id="68" name="Google Shape;68;p2"/>
          <p:cNvCxnSpPr/>
          <p:nvPr/>
        </p:nvCxnSpPr>
        <p:spPr>
          <a:xfrm>
            <a:off x="914400" y="2350008"/>
            <a:ext cx="10332720" cy="0"/>
          </a:xfrm>
          <a:prstGeom prst="straightConnector1">
            <a:avLst/>
          </a:prstGeom>
          <a:noFill/>
          <a:ln cap="flat" cmpd="sng" w="9525">
            <a:solidFill>
              <a:srgbClr val="D5DBE1"/>
            </a:solidFill>
            <a:prstDash val="solid"/>
            <a:round/>
            <a:headEnd len="sm" w="sm" type="none"/>
            <a:tailEnd len="sm" w="sm" type="none"/>
          </a:ln>
        </p:spPr>
      </p:cxnSp>
      <p:sp>
        <p:nvSpPr>
          <p:cNvPr id="69" name="Google Shape;69;p2"/>
          <p:cNvSpPr txBox="1"/>
          <p:nvPr/>
        </p:nvSpPr>
        <p:spPr>
          <a:xfrm>
            <a:off x="914400" y="2350008"/>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70" name="Google Shape;70;p2"/>
          <p:cNvSpPr txBox="1"/>
          <p:nvPr/>
        </p:nvSpPr>
        <p:spPr>
          <a:xfrm>
            <a:off x="1463040" y="2350008"/>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Design an LLM judge that applies your rubric</a:t>
            </a:r>
            <a:endParaRPr b="0" i="0" sz="2000" u="none" cap="none" strike="noStrike">
              <a:solidFill>
                <a:schemeClr val="dk1"/>
              </a:solidFill>
              <a:latin typeface="Arial"/>
              <a:ea typeface="Arial"/>
              <a:cs typeface="Arial"/>
              <a:sym typeface="Arial"/>
            </a:endParaRPr>
          </a:p>
        </p:txBody>
      </p:sp>
      <p:sp>
        <p:nvSpPr>
          <p:cNvPr id="71" name="Google Shape;71;p2"/>
          <p:cNvSpPr txBox="1"/>
          <p:nvPr/>
        </p:nvSpPr>
        <p:spPr>
          <a:xfrm>
            <a:off x="9784080" y="2350008"/>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lang="en-US" sz="1600">
                <a:solidFill>
                  <a:schemeClr val="accent6"/>
                </a:solidFill>
              </a:rPr>
              <a:t>20</a:t>
            </a:r>
            <a:r>
              <a:rPr b="0" i="0" lang="en-US" sz="1600" u="none" cap="none" strike="noStrike">
                <a:solidFill>
                  <a:schemeClr val="accent6"/>
                </a:solidFill>
                <a:latin typeface="Arial"/>
                <a:ea typeface="Arial"/>
                <a:cs typeface="Arial"/>
                <a:sym typeface="Arial"/>
              </a:rPr>
              <a:t> min</a:t>
            </a:r>
            <a:endParaRPr b="0" i="0" sz="1600" u="none" cap="none" strike="noStrike">
              <a:solidFill>
                <a:schemeClr val="dk1"/>
              </a:solidFill>
              <a:latin typeface="Arial"/>
              <a:ea typeface="Arial"/>
              <a:cs typeface="Arial"/>
              <a:sym typeface="Arial"/>
            </a:endParaRPr>
          </a:p>
        </p:txBody>
      </p:sp>
      <p:cxnSp>
        <p:nvCxnSpPr>
          <p:cNvPr id="72" name="Google Shape;72;p2"/>
          <p:cNvCxnSpPr/>
          <p:nvPr/>
        </p:nvCxnSpPr>
        <p:spPr>
          <a:xfrm>
            <a:off x="914400" y="3099816"/>
            <a:ext cx="10332720" cy="0"/>
          </a:xfrm>
          <a:prstGeom prst="straightConnector1">
            <a:avLst/>
          </a:prstGeom>
          <a:noFill/>
          <a:ln cap="flat" cmpd="sng" w="9525">
            <a:solidFill>
              <a:srgbClr val="D5DBE1"/>
            </a:solidFill>
            <a:prstDash val="solid"/>
            <a:round/>
            <a:headEnd len="sm" w="sm" type="none"/>
            <a:tailEnd len="sm" w="sm" type="none"/>
          </a:ln>
        </p:spPr>
      </p:cxnSp>
      <p:sp>
        <p:nvSpPr>
          <p:cNvPr id="73" name="Google Shape;73;p2"/>
          <p:cNvSpPr txBox="1"/>
          <p:nvPr/>
        </p:nvSpPr>
        <p:spPr>
          <a:xfrm>
            <a:off x="914400" y="3099816"/>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74" name="Google Shape;74;p2"/>
          <p:cNvSpPr txBox="1"/>
          <p:nvPr/>
        </p:nvSpPr>
        <p:spPr>
          <a:xfrm>
            <a:off x="1463040" y="3099816"/>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Validate your evaluator against human judgment</a:t>
            </a:r>
            <a:endParaRPr b="0" i="0" sz="2000" u="none" cap="none" strike="noStrike">
              <a:solidFill>
                <a:schemeClr val="dk1"/>
              </a:solidFill>
              <a:latin typeface="Arial"/>
              <a:ea typeface="Arial"/>
              <a:cs typeface="Arial"/>
              <a:sym typeface="Arial"/>
            </a:endParaRPr>
          </a:p>
        </p:txBody>
      </p:sp>
      <p:sp>
        <p:nvSpPr>
          <p:cNvPr id="75" name="Google Shape;75;p2"/>
          <p:cNvSpPr txBox="1"/>
          <p:nvPr/>
        </p:nvSpPr>
        <p:spPr>
          <a:xfrm>
            <a:off x="9784080" y="3099816"/>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15 min</a:t>
            </a:r>
            <a:endParaRPr b="0" i="0" sz="1600" u="none" cap="none" strike="noStrike">
              <a:solidFill>
                <a:schemeClr val="dk1"/>
              </a:solidFill>
              <a:latin typeface="Arial"/>
              <a:ea typeface="Arial"/>
              <a:cs typeface="Arial"/>
              <a:sym typeface="Arial"/>
            </a:endParaRPr>
          </a:p>
        </p:txBody>
      </p:sp>
      <p:cxnSp>
        <p:nvCxnSpPr>
          <p:cNvPr id="76" name="Google Shape;76;p2"/>
          <p:cNvCxnSpPr/>
          <p:nvPr/>
        </p:nvCxnSpPr>
        <p:spPr>
          <a:xfrm>
            <a:off x="914400" y="3849624"/>
            <a:ext cx="10332720" cy="0"/>
          </a:xfrm>
          <a:prstGeom prst="straightConnector1">
            <a:avLst/>
          </a:prstGeom>
          <a:noFill/>
          <a:ln cap="flat" cmpd="sng" w="9525">
            <a:solidFill>
              <a:srgbClr val="D5DBE1"/>
            </a:solidFill>
            <a:prstDash val="solid"/>
            <a:round/>
            <a:headEnd len="sm" w="sm" type="none"/>
            <a:tailEnd len="sm" w="sm" type="none"/>
          </a:ln>
        </p:spPr>
      </p:cxnSp>
      <p:sp>
        <p:nvSpPr>
          <p:cNvPr id="77" name="Google Shape;77;p2"/>
          <p:cNvSpPr txBox="1"/>
          <p:nvPr/>
        </p:nvSpPr>
        <p:spPr>
          <a:xfrm>
            <a:off x="914400" y="3849624"/>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78" name="Google Shape;78;p2"/>
          <p:cNvSpPr txBox="1"/>
          <p:nvPr/>
        </p:nvSpPr>
        <p:spPr>
          <a:xfrm>
            <a:off x="1463040" y="3849624"/>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Beyond single answers: multi-turn, tool calls, A/B</a:t>
            </a:r>
            <a:endParaRPr b="0" i="0" sz="2000" u="none" cap="none" strike="noStrike">
              <a:solidFill>
                <a:schemeClr val="dk1"/>
              </a:solidFill>
              <a:latin typeface="Arial"/>
              <a:ea typeface="Arial"/>
              <a:cs typeface="Arial"/>
              <a:sym typeface="Arial"/>
            </a:endParaRPr>
          </a:p>
        </p:txBody>
      </p:sp>
      <p:sp>
        <p:nvSpPr>
          <p:cNvPr id="79" name="Google Shape;79;p2"/>
          <p:cNvSpPr txBox="1"/>
          <p:nvPr/>
        </p:nvSpPr>
        <p:spPr>
          <a:xfrm>
            <a:off x="9784080" y="3849624"/>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lang="en-US" sz="1600">
                <a:solidFill>
                  <a:schemeClr val="accent6"/>
                </a:solidFill>
              </a:rPr>
              <a:t>20</a:t>
            </a:r>
            <a:r>
              <a:rPr b="0" i="0" lang="en-US" sz="1600" u="none" cap="none" strike="noStrike">
                <a:solidFill>
                  <a:schemeClr val="accent6"/>
                </a:solidFill>
                <a:latin typeface="Arial"/>
                <a:ea typeface="Arial"/>
                <a:cs typeface="Arial"/>
                <a:sym typeface="Arial"/>
              </a:rPr>
              <a:t> min</a:t>
            </a:r>
            <a:endParaRPr b="0" i="0" sz="1600" u="none" cap="none" strike="noStrike">
              <a:solidFill>
                <a:schemeClr val="dk1"/>
              </a:solidFill>
              <a:latin typeface="Arial"/>
              <a:ea typeface="Arial"/>
              <a:cs typeface="Arial"/>
              <a:sym typeface="Arial"/>
            </a:endParaRPr>
          </a:p>
        </p:txBody>
      </p:sp>
      <p:cxnSp>
        <p:nvCxnSpPr>
          <p:cNvPr id="80" name="Google Shape;80;p2"/>
          <p:cNvCxnSpPr/>
          <p:nvPr/>
        </p:nvCxnSpPr>
        <p:spPr>
          <a:xfrm>
            <a:off x="914400" y="4599432"/>
            <a:ext cx="10332720" cy="0"/>
          </a:xfrm>
          <a:prstGeom prst="straightConnector1">
            <a:avLst/>
          </a:prstGeom>
          <a:noFill/>
          <a:ln cap="flat" cmpd="sng" w="9525">
            <a:solidFill>
              <a:srgbClr val="D5DBE1"/>
            </a:solidFill>
            <a:prstDash val="solid"/>
            <a:round/>
            <a:headEnd len="sm" w="sm" type="none"/>
            <a:tailEnd len="sm" w="sm" type="none"/>
          </a:ln>
        </p:spPr>
      </p:cxnSp>
      <p:sp>
        <p:nvSpPr>
          <p:cNvPr id="81" name="Google Shape;81;p2"/>
          <p:cNvSpPr txBox="1"/>
          <p:nvPr/>
        </p:nvSpPr>
        <p:spPr>
          <a:xfrm>
            <a:off x="914400" y="4599432"/>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82" name="Google Shape;82;p2"/>
          <p:cNvSpPr txBox="1"/>
          <p:nvPr/>
        </p:nvSpPr>
        <p:spPr>
          <a:xfrm>
            <a:off x="1463040" y="4599432"/>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Live build and Project 2</a:t>
            </a:r>
            <a:endParaRPr b="0" i="0" sz="2000" u="none" cap="none" strike="noStrike">
              <a:solidFill>
                <a:schemeClr val="dk1"/>
              </a:solidFill>
              <a:latin typeface="Arial"/>
              <a:ea typeface="Arial"/>
              <a:cs typeface="Arial"/>
              <a:sym typeface="Arial"/>
            </a:endParaRPr>
          </a:p>
        </p:txBody>
      </p:sp>
      <p:sp>
        <p:nvSpPr>
          <p:cNvPr id="83" name="Google Shape;83;p2"/>
          <p:cNvSpPr txBox="1"/>
          <p:nvPr/>
        </p:nvSpPr>
        <p:spPr>
          <a:xfrm>
            <a:off x="9784080" y="4599432"/>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30 min</a:t>
            </a:r>
            <a:endParaRPr b="0" i="0" sz="1600" u="none" cap="none" strike="noStrike">
              <a:solidFill>
                <a:schemeClr val="dk1"/>
              </a:solidFill>
              <a:latin typeface="Arial"/>
              <a:ea typeface="Arial"/>
              <a:cs typeface="Arial"/>
              <a:sym typeface="Arial"/>
            </a:endParaRPr>
          </a:p>
        </p:txBody>
      </p:sp>
      <p:sp>
        <p:nvSpPr>
          <p:cNvPr id="84" name="Google Shape;84;p2"/>
          <p:cNvSpPr txBox="1"/>
          <p:nvPr/>
        </p:nvSpPr>
        <p:spPr>
          <a:xfrm>
            <a:off x="9784080" y="5440680"/>
            <a:ext cx="14630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200"/>
              <a:buFont typeface="Arial"/>
              <a:buNone/>
            </a:pPr>
            <a:r>
              <a:rPr lang="en-US" sz="1200">
                <a:solidFill>
                  <a:srgbClr val="94A3B8"/>
                </a:solidFill>
              </a:rPr>
              <a:t>120</a:t>
            </a:r>
            <a:r>
              <a:rPr b="0" i="0" lang="en-US" sz="1200" u="none" cap="none" strike="noStrike">
                <a:solidFill>
                  <a:srgbClr val="94A3B8"/>
                </a:solidFill>
                <a:latin typeface="Arial"/>
                <a:ea typeface="Arial"/>
                <a:cs typeface="Arial"/>
                <a:sym typeface="Arial"/>
              </a:rPr>
              <a:t> min</a:t>
            </a:r>
            <a:endParaRPr b="0" i="0" sz="1200" u="none" cap="none" strike="noStrike">
              <a:solidFill>
                <a:schemeClr val="dk1"/>
              </a:solidFill>
              <a:latin typeface="Arial"/>
              <a:ea typeface="Arial"/>
              <a:cs typeface="Arial"/>
              <a:sym typeface="Arial"/>
            </a:endParaRPr>
          </a:p>
        </p:txBody>
      </p:sp>
      <p:sp>
        <p:nvSpPr>
          <p:cNvPr id="85" name="Google Shape;85;p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How evaluations can mislead you</a:t>
            </a:r>
            <a:endParaRPr sz="2200"/>
          </a:p>
        </p:txBody>
      </p:sp>
      <p:pic>
        <p:nvPicPr>
          <p:cNvPr descr="Meme: a selfie in the snow with a snow leopard sitting right behind the person. Captions: My judge is 95% accurate! It says pass on everything." id="92" name="Google Shape;92;p3"/>
          <p:cNvPicPr preferRelativeResize="0"/>
          <p:nvPr/>
        </p:nvPicPr>
        <p:blipFill rotWithShape="1">
          <a:blip r:embed="rId3">
            <a:alphaModFix/>
          </a:blip>
          <a:srcRect b="0" l="0" r="0" t="0"/>
          <a:stretch/>
        </p:blipFill>
        <p:spPr>
          <a:xfrm>
            <a:off x="1511528" y="1161288"/>
            <a:ext cx="9175040" cy="5120640"/>
          </a:xfrm>
          <a:prstGeom prst="rect">
            <a:avLst/>
          </a:prstGeom>
          <a:noFill/>
          <a:ln>
            <a:noFill/>
          </a:ln>
        </p:spPr>
      </p:pic>
      <p:sp>
        <p:nvSpPr>
          <p:cNvPr id="93" name="Google Shape;93;p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Where week 2 fits</a:t>
            </a:r>
            <a:endParaRPr sz="2200"/>
          </a:p>
        </p:txBody>
      </p:sp>
      <p:pic>
        <p:nvPicPr>
          <p:cNvPr descr="Course timeline of six weeks. Week 1, foundations, is done. Week 2, evaluators, is today. You bring your week 1 failure codes and leave with a validated evaluator suite." id="100" name="Google Shape;100;p4"/>
          <p:cNvPicPr preferRelativeResize="0"/>
          <p:nvPr/>
        </p:nvPicPr>
        <p:blipFill rotWithShape="1">
          <a:blip r:embed="rId3">
            <a:alphaModFix/>
          </a:blip>
          <a:srcRect b="0" l="0" r="0" t="0"/>
          <a:stretch/>
        </p:blipFill>
        <p:spPr>
          <a:xfrm>
            <a:off x="612648" y="1618488"/>
            <a:ext cx="10972800" cy="3657600"/>
          </a:xfrm>
          <a:prstGeom prst="rect">
            <a:avLst/>
          </a:prstGeom>
          <a:noFill/>
          <a:ln>
            <a:noFill/>
          </a:ln>
        </p:spPr>
      </p:pic>
      <p:sp>
        <p:nvSpPr>
          <p:cNvPr id="101" name="Google Shape;101;p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Turn failure codes into automated judges</a:t>
            </a:r>
            <a:endParaRPr sz="2200"/>
          </a:p>
        </p:txBody>
      </p:sp>
      <p:pic>
        <p:nvPicPr>
          <p:cNvPr descr="Left: the week 1 failure codes with how many of the 8 failed sessions showed them. Right: one evaluator for each. Stale Knowledge 5 of 8: cites current policy? Incorrect Action 4 of 8: took the right action? Latency Violation 4 of 8: under 3 seconds, a rule and not a judge. Wrong Intent 3 of 8: answered the real question? Tool Looping 2 of 8 waits for week 5." id="108" name="Google Shape;108;p5"/>
          <p:cNvPicPr preferRelativeResize="0"/>
          <p:nvPr/>
        </p:nvPicPr>
        <p:blipFill rotWithShape="1">
          <a:blip r:embed="rId3">
            <a:alphaModFix/>
          </a:blip>
          <a:srcRect b="0" l="0" r="0" t="0"/>
          <a:stretch/>
        </p:blipFill>
        <p:spPr>
          <a:xfrm>
            <a:off x="612648" y="1161288"/>
            <a:ext cx="10972800" cy="4480560"/>
          </a:xfrm>
          <a:prstGeom prst="rect">
            <a:avLst/>
          </a:prstGeom>
          <a:noFill/>
          <a:ln>
            <a:noFill/>
          </a:ln>
        </p:spPr>
      </p:pic>
      <p:sp>
        <p:nvSpPr>
          <p:cNvPr id="109" name="Google Shape;109;p5"/>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You are not guessing what to measure. You are automating failures you already named</a:t>
            </a:r>
            <a:endParaRPr b="0" i="0" sz="1800" u="none" cap="none" strike="noStrike">
              <a:solidFill>
                <a:schemeClr val="dk1"/>
              </a:solidFill>
              <a:latin typeface="Arial"/>
              <a:ea typeface="Arial"/>
              <a:cs typeface="Arial"/>
              <a:sym typeface="Arial"/>
            </a:endParaRPr>
          </a:p>
        </p:txBody>
      </p:sp>
      <p:sp>
        <p:nvSpPr>
          <p:cNvPr id="110" name="Google Shape;110;p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1</a:t>
            </a:r>
            <a:endParaRPr b="0" i="0" sz="1200" u="none" cap="none" strike="noStrike">
              <a:solidFill>
                <a:schemeClr val="dk1"/>
              </a:solidFill>
              <a:latin typeface="Arial"/>
              <a:ea typeface="Arial"/>
              <a:cs typeface="Arial"/>
              <a:sym typeface="Arial"/>
            </a:endParaRPr>
          </a:p>
        </p:txBody>
      </p:sp>
      <p:sp>
        <p:nvSpPr>
          <p:cNvPr id="118" name="Google Shape;118;p6"/>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Choose the right evaluation method</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Four evaluator types and when to use them</a:t>
            </a:r>
            <a:endParaRPr sz="2200"/>
          </a:p>
        </p:txBody>
      </p:sp>
      <p:pic>
        <p:nvPicPr>
          <p:cNvPr descr="A tree. Evaluators split into two families. Programmatic evaluators scale: code-based checks (Python checks) and LLM-as-judge (an LLM applies a rubric). Manual evaluators align and debug: human review (experts label) and user feedback (signals from production)." id="125" name="Google Shape;125;p7"/>
          <p:cNvPicPr preferRelativeResize="0"/>
          <p:nvPr/>
        </p:nvPicPr>
        <p:blipFill rotWithShape="1">
          <a:blip r:embed="rId3">
            <a:alphaModFix/>
          </a:blip>
          <a:srcRect b="0" l="0" r="0" t="0"/>
          <a:stretch/>
        </p:blipFill>
        <p:spPr>
          <a:xfrm>
            <a:off x="612648" y="1252728"/>
            <a:ext cx="10972800" cy="4389120"/>
          </a:xfrm>
          <a:prstGeom prst="rect">
            <a:avLst/>
          </a:prstGeom>
          <a:noFill/>
          <a:ln>
            <a:noFill/>
          </a:ln>
        </p:spPr>
      </p:pic>
      <p:sp>
        <p:nvSpPr>
          <p:cNvPr id="126" name="Google Shape;126;p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A rule exists → code · it needs judgment → judge · ground truth → human</a:t>
            </a:r>
            <a:endParaRPr b="0" i="0" sz="1800" u="none" cap="none" strike="noStrike">
              <a:solidFill>
                <a:schemeClr val="dk1"/>
              </a:solidFill>
              <a:latin typeface="Arial"/>
              <a:ea typeface="Arial"/>
              <a:cs typeface="Arial"/>
              <a:sym typeface="Arial"/>
            </a:endParaRPr>
          </a:p>
        </p:txBody>
      </p:sp>
      <p:sp>
        <p:nvSpPr>
          <p:cNvPr id="127" name="Google Shape;127;p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Human labels define the ground truth for validating a judge</a:t>
            </a:r>
            <a:endParaRPr sz="2200"/>
          </a:p>
        </p:txBody>
      </p:sp>
      <p:pic>
        <p:nvPicPr>
          <p:cNvPr descr="Four steps to human labels: write guidelines, label independently with two annotators, measure agreement with Cohen's kappa, resolve and refine. Below, a scale for kappa between the two annotators: below 0.4 poor, criteria too vague. 0.4 to 0.6 moderate, refine examples. 0.6 to 0.8 substantial, good to proceed. Above 0.8 excellent, ready to calibrate." id="134" name="Google Shape;134;p8"/>
          <p:cNvPicPr preferRelativeResize="0"/>
          <p:nvPr/>
        </p:nvPicPr>
        <p:blipFill rotWithShape="1">
          <a:blip r:embed="rId3">
            <a:alphaModFix/>
          </a:blip>
          <a:srcRect b="0" l="0" r="0" t="0"/>
          <a:stretch/>
        </p:blipFill>
        <p:spPr>
          <a:xfrm>
            <a:off x="612648" y="1435608"/>
            <a:ext cx="10972800" cy="4023360"/>
          </a:xfrm>
          <a:prstGeom prst="rect">
            <a:avLst/>
          </a:prstGeom>
          <a:noFill/>
          <a:ln>
            <a:noFill/>
          </a:ln>
        </p:spPr>
      </p:pic>
      <p:sp>
        <p:nvSpPr>
          <p:cNvPr id="135" name="Google Shape;135;p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Never trust a judge you have not checked against human labels</a:t>
            </a:r>
            <a:endParaRPr b="0" i="0" sz="1800" u="none" cap="none" strike="noStrike">
              <a:solidFill>
                <a:schemeClr val="dk1"/>
              </a:solidFill>
              <a:latin typeface="Arial"/>
              <a:ea typeface="Arial"/>
              <a:cs typeface="Arial"/>
              <a:sym typeface="Arial"/>
            </a:endParaRPr>
          </a:p>
        </p:txBody>
      </p:sp>
      <p:sp>
        <p:nvSpPr>
          <p:cNvPr id="136" name="Google Shape;136;p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Why traditional metrics fail for LLM outputs</a:t>
            </a:r>
            <a:endParaRPr sz="2200"/>
          </a:p>
        </p:txBody>
      </p:sp>
      <p:graphicFrame>
        <p:nvGraphicFramePr>
          <p:cNvPr id="143" name="Google Shape;143;p9"/>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2377450"/>
                <a:gridCol w="3108950"/>
                <a:gridCol w="2834650"/>
                <a:gridCol w="2743200"/>
              </a:tblGrid>
              <a:tr h="822950">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Metric</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What it measures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Works for</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Fails when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Exact match</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output identical to reference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IDs, labels, classifications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any phrasing variation fails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F1 / precision / recall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token or span overlap</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extraction, classification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ignores meaning and order</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BLEU / ROUGE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n-gram overlap</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translation, summarization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high score ≠ correct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BERTScore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embedding similarity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semantic closeness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misses factual errors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144" name="Google Shape;144;p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Choose the evaluator by what you are checking: a rule, a judgment, a ground truth</a:t>
            </a:r>
            <a:endParaRPr sz="2200"/>
          </a:p>
        </p:txBody>
      </p:sp>
      <p:pic>
        <p:nvPicPr>
          <p:cNvPr descr="A decision path of four questions. Can a rule express it? Yes: code-based check, such as valid JSON, latency, exact ID match. Needs judgment on open text? Yes: LLM judge, such as faithfulness, tone, task completion. Setting ground truth or calibrating? Yes: human review, such as labeling a golden set or judging the judge. Measuring real-world outcomes? Yes: user feedback, such as satisfaction, escalation, retention." id="151" name="Google Shape;151;p10"/>
          <p:cNvPicPr preferRelativeResize="0"/>
          <p:nvPr/>
        </p:nvPicPr>
        <p:blipFill rotWithShape="1">
          <a:blip r:embed="rId3">
            <a:alphaModFix/>
          </a:blip>
          <a:srcRect b="0" l="0" r="0" t="0"/>
          <a:stretch/>
        </p:blipFill>
        <p:spPr>
          <a:xfrm>
            <a:off x="612648" y="1344168"/>
            <a:ext cx="10972800" cy="4754880"/>
          </a:xfrm>
          <a:prstGeom prst="rect">
            <a:avLst/>
          </a:prstGeom>
          <a:noFill/>
          <a:ln>
            <a:noFill/>
          </a:ln>
        </p:spPr>
      </p:pic>
      <p:sp>
        <p:nvSpPr>
          <p:cNvPr id="152" name="Google Shape;152;p1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2</a:t>
            </a:r>
            <a:endParaRPr b="0" i="0" sz="1200" u="none" cap="none" strike="noStrike">
              <a:solidFill>
                <a:schemeClr val="dk1"/>
              </a:solidFill>
              <a:latin typeface="Arial"/>
              <a:ea typeface="Arial"/>
              <a:cs typeface="Arial"/>
              <a:sym typeface="Arial"/>
            </a:endParaRPr>
          </a:p>
        </p:txBody>
      </p:sp>
      <p:sp>
        <p:nvSpPr>
          <p:cNvPr id="160" name="Google Shape;160;p11"/>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Design an LLM judge that applies your rubric</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Components of a reliable LLM judge</a:t>
            </a:r>
            <a:endParaRPr sz="2200"/>
          </a:p>
        </p:txBody>
      </p:sp>
      <p:pic>
        <p:nvPicPr>
          <p:cNvPr descr="Three inputs go into the judge LLM: the trace to evaluate (input plus agent output), the rubric (binary criteria plus examples) and, optionally, context (reference docs, ground truth). The judge applies the rubric. Its output has two parts in this order: the reasoning, which makes it debuggable, then PASS or FAIL, binary with no scale." id="167" name="Google Shape;167;p12"/>
          <p:cNvPicPr preferRelativeResize="0"/>
          <p:nvPr/>
        </p:nvPicPr>
        <p:blipFill rotWithShape="1">
          <a:blip r:embed="rId3">
            <a:alphaModFix/>
          </a:blip>
          <a:srcRect b="0" l="0" r="0" t="0"/>
          <a:stretch/>
        </p:blipFill>
        <p:spPr>
          <a:xfrm>
            <a:off x="612648" y="1481328"/>
            <a:ext cx="10972800" cy="4297680"/>
          </a:xfrm>
          <a:prstGeom prst="rect">
            <a:avLst/>
          </a:prstGeom>
          <a:noFill/>
          <a:ln>
            <a:noFill/>
          </a:ln>
        </p:spPr>
      </p:pic>
      <p:sp>
        <p:nvSpPr>
          <p:cNvPr id="168" name="Google Shape;168;p1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Why pass/fail rubrics are more reliable than 1-5 ratings</a:t>
            </a:r>
            <a:endParaRPr sz="2200"/>
          </a:p>
        </p:txBody>
      </p:sp>
      <p:pic>
        <p:nvPicPr>
          <p:cNvPr descr="Two sketched bar charts. Left, a 1-5 rating: most scores pile up on 3, annotators default to the middle and vague criteria hide behind a 3. Right, pass or fail: two bars, clear criteria, easy to validate against humans, and the fails tell you what to fix." id="175" name="Google Shape;175;p13"/>
          <p:cNvPicPr preferRelativeResize="0"/>
          <p:nvPr/>
        </p:nvPicPr>
        <p:blipFill rotWithShape="1">
          <a:blip r:embed="rId3">
            <a:alphaModFix/>
          </a:blip>
          <a:srcRect b="0" l="0" r="0" t="0"/>
          <a:stretch/>
        </p:blipFill>
        <p:spPr>
          <a:xfrm>
            <a:off x="612648" y="1252728"/>
            <a:ext cx="10972800" cy="4297680"/>
          </a:xfrm>
          <a:prstGeom prst="rect">
            <a:avLst/>
          </a:prstGeom>
          <a:noFill/>
          <a:ln>
            <a:noFill/>
          </a:ln>
        </p:spPr>
      </p:pic>
      <p:sp>
        <p:nvSpPr>
          <p:cNvPr id="176" name="Google Shape;176;p1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Need more detail? Split one 1-5 score into separate binary checks</a:t>
            </a:r>
            <a:endParaRPr b="0" i="0" sz="1800" u="none" cap="none" strike="noStrike">
              <a:solidFill>
                <a:schemeClr val="dk1"/>
              </a:solidFill>
              <a:latin typeface="Arial"/>
              <a:ea typeface="Arial"/>
              <a:cs typeface="Arial"/>
              <a:sym typeface="Arial"/>
            </a:endParaRPr>
          </a:p>
        </p:txBody>
      </p:sp>
      <p:sp>
        <p:nvSpPr>
          <p:cNvPr id="177" name="Google Shape;177;p1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Elements of a reliable LLM-judge prompt</a:t>
            </a:r>
            <a:endParaRPr sz="2200"/>
          </a:p>
        </p:txBody>
      </p:sp>
      <p:sp>
        <p:nvSpPr>
          <p:cNvPr id="184" name="Google Shape;184;p14"/>
          <p:cNvSpPr txBox="1"/>
          <p:nvPr/>
        </p:nvSpPr>
        <p:spPr>
          <a:xfrm>
            <a:off x="822960" y="1435608"/>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85" name="Google Shape;185;p14"/>
          <p:cNvSpPr txBox="1"/>
          <p:nvPr/>
        </p:nvSpPr>
        <p:spPr>
          <a:xfrm>
            <a:off x="1325880" y="1435608"/>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Auditor role</a:t>
            </a:r>
            <a:endParaRPr b="0" i="0" sz="2000" u="none" cap="none" strike="noStrike">
              <a:solidFill>
                <a:schemeClr val="dk1"/>
              </a:solidFill>
              <a:latin typeface="Arial"/>
              <a:ea typeface="Arial"/>
              <a:cs typeface="Arial"/>
              <a:sym typeface="Arial"/>
            </a:endParaRPr>
          </a:p>
        </p:txBody>
      </p:sp>
      <p:sp>
        <p:nvSpPr>
          <p:cNvPr id="186" name="Google Shape;186;p14"/>
          <p:cNvSpPr txBox="1"/>
          <p:nvPr/>
        </p:nvSpPr>
        <p:spPr>
          <a:xfrm>
            <a:off x="4572000" y="1435608"/>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“You are auditing a transcript between a user and a support agent.”</a:t>
            </a:r>
            <a:endParaRPr b="0" i="0" sz="1700" u="none" cap="none" strike="noStrike">
              <a:solidFill>
                <a:schemeClr val="dk1"/>
              </a:solidFill>
              <a:latin typeface="Arial"/>
              <a:ea typeface="Arial"/>
              <a:cs typeface="Arial"/>
              <a:sym typeface="Arial"/>
            </a:endParaRPr>
          </a:p>
        </p:txBody>
      </p:sp>
      <p:cxnSp>
        <p:nvCxnSpPr>
          <p:cNvPr id="187" name="Google Shape;187;p14"/>
          <p:cNvCxnSpPr/>
          <p:nvPr/>
        </p:nvCxnSpPr>
        <p:spPr>
          <a:xfrm>
            <a:off x="822960" y="2276856"/>
            <a:ext cx="10515600" cy="0"/>
          </a:xfrm>
          <a:prstGeom prst="straightConnector1">
            <a:avLst/>
          </a:prstGeom>
          <a:noFill/>
          <a:ln cap="flat" cmpd="sng" w="9525">
            <a:solidFill>
              <a:srgbClr val="D5DBE1"/>
            </a:solidFill>
            <a:prstDash val="solid"/>
            <a:round/>
            <a:headEnd len="sm" w="sm" type="none"/>
            <a:tailEnd len="sm" w="sm" type="none"/>
          </a:ln>
        </p:spPr>
      </p:cxnSp>
      <p:sp>
        <p:nvSpPr>
          <p:cNvPr id="188" name="Google Shape;188;p14"/>
          <p:cNvSpPr txBox="1"/>
          <p:nvPr/>
        </p:nvSpPr>
        <p:spPr>
          <a:xfrm>
            <a:off x="822960" y="2276856"/>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189" name="Google Shape;189;p14"/>
          <p:cNvSpPr txBox="1"/>
          <p:nvPr/>
        </p:nvSpPr>
        <p:spPr>
          <a:xfrm>
            <a:off x="1325880" y="2276856"/>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Single binary question</a:t>
            </a:r>
            <a:endParaRPr b="0" i="0" sz="2000" u="none" cap="none" strike="noStrike">
              <a:solidFill>
                <a:schemeClr val="dk1"/>
              </a:solidFill>
              <a:latin typeface="Arial"/>
              <a:ea typeface="Arial"/>
              <a:cs typeface="Arial"/>
              <a:sym typeface="Arial"/>
            </a:endParaRPr>
          </a:p>
        </p:txBody>
      </p:sp>
      <p:sp>
        <p:nvSpPr>
          <p:cNvPr id="190" name="Google Shape;190;p14"/>
          <p:cNvSpPr txBox="1"/>
          <p:nvPr/>
        </p:nvSpPr>
        <p:spPr>
          <a:xfrm>
            <a:off x="4572000" y="2276856"/>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“Did every turn that needed a tool call get one?”</a:t>
            </a:r>
            <a:endParaRPr b="0" i="0" sz="1700" u="none" cap="none" strike="noStrike">
              <a:solidFill>
                <a:schemeClr val="dk1"/>
              </a:solidFill>
              <a:latin typeface="Arial"/>
              <a:ea typeface="Arial"/>
              <a:cs typeface="Arial"/>
              <a:sym typeface="Arial"/>
            </a:endParaRPr>
          </a:p>
        </p:txBody>
      </p:sp>
      <p:cxnSp>
        <p:nvCxnSpPr>
          <p:cNvPr id="191" name="Google Shape;191;p14"/>
          <p:cNvCxnSpPr/>
          <p:nvPr/>
        </p:nvCxnSpPr>
        <p:spPr>
          <a:xfrm>
            <a:off x="822960" y="3118104"/>
            <a:ext cx="10515600" cy="0"/>
          </a:xfrm>
          <a:prstGeom prst="straightConnector1">
            <a:avLst/>
          </a:prstGeom>
          <a:noFill/>
          <a:ln cap="flat" cmpd="sng" w="9525">
            <a:solidFill>
              <a:srgbClr val="D5DBE1"/>
            </a:solidFill>
            <a:prstDash val="solid"/>
            <a:round/>
            <a:headEnd len="sm" w="sm" type="none"/>
            <a:tailEnd len="sm" w="sm" type="none"/>
          </a:ln>
        </p:spPr>
      </p:cxnSp>
      <p:sp>
        <p:nvSpPr>
          <p:cNvPr id="192" name="Google Shape;192;p14"/>
          <p:cNvSpPr txBox="1"/>
          <p:nvPr/>
        </p:nvSpPr>
        <p:spPr>
          <a:xfrm>
            <a:off x="822960" y="3118104"/>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193" name="Google Shape;193;p14"/>
          <p:cNvSpPr txBox="1"/>
          <p:nvPr/>
        </p:nvSpPr>
        <p:spPr>
          <a:xfrm>
            <a:off x="1325880" y="3118104"/>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Concrete standard</a:t>
            </a:r>
            <a:endParaRPr b="0" i="0" sz="2000" u="none" cap="none" strike="noStrike">
              <a:solidFill>
                <a:schemeClr val="dk1"/>
              </a:solidFill>
              <a:latin typeface="Arial"/>
              <a:ea typeface="Arial"/>
              <a:cs typeface="Arial"/>
              <a:sym typeface="Arial"/>
            </a:endParaRPr>
          </a:p>
        </p:txBody>
      </p:sp>
      <p:sp>
        <p:nvSpPr>
          <p:cNvPr id="194" name="Google Shape;194;p14"/>
          <p:cNvSpPr txBox="1"/>
          <p:nvPr/>
        </p:nvSpPr>
        <p:spPr>
          <a:xfrm>
            <a:off x="4572000" y="3118104"/>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PASS and FAIL each defined</a:t>
            </a:r>
            <a:endParaRPr b="0" i="0" sz="1700" u="none" cap="none" strike="noStrike">
              <a:solidFill>
                <a:schemeClr val="dk1"/>
              </a:solidFill>
              <a:latin typeface="Arial"/>
              <a:ea typeface="Arial"/>
              <a:cs typeface="Arial"/>
              <a:sym typeface="Arial"/>
            </a:endParaRPr>
          </a:p>
        </p:txBody>
      </p:sp>
      <p:cxnSp>
        <p:nvCxnSpPr>
          <p:cNvPr id="195" name="Google Shape;195;p14"/>
          <p:cNvCxnSpPr/>
          <p:nvPr/>
        </p:nvCxnSpPr>
        <p:spPr>
          <a:xfrm>
            <a:off x="822960" y="3959352"/>
            <a:ext cx="10515600" cy="0"/>
          </a:xfrm>
          <a:prstGeom prst="straightConnector1">
            <a:avLst/>
          </a:prstGeom>
          <a:noFill/>
          <a:ln cap="flat" cmpd="sng" w="9525">
            <a:solidFill>
              <a:srgbClr val="D5DBE1"/>
            </a:solidFill>
            <a:prstDash val="solid"/>
            <a:round/>
            <a:headEnd len="sm" w="sm" type="none"/>
            <a:tailEnd len="sm" w="sm" type="none"/>
          </a:ln>
        </p:spPr>
      </p:cxnSp>
      <p:sp>
        <p:nvSpPr>
          <p:cNvPr id="196" name="Google Shape;196;p14"/>
          <p:cNvSpPr txBox="1"/>
          <p:nvPr/>
        </p:nvSpPr>
        <p:spPr>
          <a:xfrm>
            <a:off x="822960" y="3959352"/>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197" name="Google Shape;197;p14"/>
          <p:cNvSpPr txBox="1"/>
          <p:nvPr/>
        </p:nvSpPr>
        <p:spPr>
          <a:xfrm>
            <a:off x="1325880" y="3959352"/>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Boundary example</a:t>
            </a:r>
            <a:endParaRPr b="0" i="0" sz="2000" u="none" cap="none" strike="noStrike">
              <a:solidFill>
                <a:schemeClr val="dk1"/>
              </a:solidFill>
              <a:latin typeface="Arial"/>
              <a:ea typeface="Arial"/>
              <a:cs typeface="Arial"/>
              <a:sym typeface="Arial"/>
            </a:endParaRPr>
          </a:p>
        </p:txBody>
      </p:sp>
      <p:sp>
        <p:nvSpPr>
          <p:cNvPr id="198" name="Google Shape;198;p14"/>
          <p:cNvSpPr txBox="1"/>
          <p:nvPr/>
        </p:nvSpPr>
        <p:spPr>
          <a:xfrm>
            <a:off x="4572000" y="3959352"/>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“Fixing it after the user pushes back does NOT redeem the miss.”</a:t>
            </a:r>
            <a:endParaRPr b="0" i="0" sz="1700" u="none" cap="none" strike="noStrike">
              <a:solidFill>
                <a:schemeClr val="dk1"/>
              </a:solidFill>
              <a:latin typeface="Arial"/>
              <a:ea typeface="Arial"/>
              <a:cs typeface="Arial"/>
              <a:sym typeface="Arial"/>
            </a:endParaRPr>
          </a:p>
        </p:txBody>
      </p:sp>
      <p:cxnSp>
        <p:nvCxnSpPr>
          <p:cNvPr id="199" name="Google Shape;199;p14"/>
          <p:cNvCxnSpPr/>
          <p:nvPr/>
        </p:nvCxnSpPr>
        <p:spPr>
          <a:xfrm>
            <a:off x="822960" y="4800600"/>
            <a:ext cx="10515600" cy="0"/>
          </a:xfrm>
          <a:prstGeom prst="straightConnector1">
            <a:avLst/>
          </a:prstGeom>
          <a:noFill/>
          <a:ln cap="flat" cmpd="sng" w="9525">
            <a:solidFill>
              <a:srgbClr val="D5DBE1"/>
            </a:solidFill>
            <a:prstDash val="solid"/>
            <a:round/>
            <a:headEnd len="sm" w="sm" type="none"/>
            <a:tailEnd len="sm" w="sm" type="none"/>
          </a:ln>
        </p:spPr>
      </p:cxnSp>
      <p:sp>
        <p:nvSpPr>
          <p:cNvPr id="200" name="Google Shape;200;p14"/>
          <p:cNvSpPr txBox="1"/>
          <p:nvPr/>
        </p:nvSpPr>
        <p:spPr>
          <a:xfrm>
            <a:off x="822960" y="4800600"/>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201" name="Google Shape;201;p14"/>
          <p:cNvSpPr txBox="1"/>
          <p:nvPr/>
        </p:nvSpPr>
        <p:spPr>
          <a:xfrm>
            <a:off x="1325880" y="4800600"/>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Output format</a:t>
            </a:r>
            <a:endParaRPr b="0" i="0" sz="2000" u="none" cap="none" strike="noStrike">
              <a:solidFill>
                <a:schemeClr val="dk1"/>
              </a:solidFill>
              <a:latin typeface="Arial"/>
              <a:ea typeface="Arial"/>
              <a:cs typeface="Arial"/>
              <a:sym typeface="Arial"/>
            </a:endParaRPr>
          </a:p>
        </p:txBody>
      </p:sp>
      <p:sp>
        <p:nvSpPr>
          <p:cNvPr id="202" name="Google Shape;202;p14"/>
          <p:cNvSpPr txBox="1"/>
          <p:nvPr/>
        </p:nvSpPr>
        <p:spPr>
          <a:xfrm>
            <a:off x="4572000" y="4800600"/>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“Reasoning in one or two sentences, then one word: PASS or FAIL.”</a:t>
            </a:r>
            <a:endParaRPr b="0" i="0" sz="1700" u="none" cap="none" strike="noStrike">
              <a:solidFill>
                <a:schemeClr val="dk1"/>
              </a:solidFill>
              <a:latin typeface="Arial"/>
              <a:ea typeface="Arial"/>
              <a:cs typeface="Arial"/>
              <a:sym typeface="Arial"/>
            </a:endParaRPr>
          </a:p>
        </p:txBody>
      </p:sp>
      <p:sp>
        <p:nvSpPr>
          <p:cNvPr id="203" name="Google Shape;203;p14"/>
          <p:cNvSpPr txBox="1"/>
          <p:nvPr/>
        </p:nvSpPr>
        <p:spPr>
          <a:xfrm>
            <a:off x="822960" y="6053328"/>
            <a:ext cx="10515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Each line comes from the judge prompt on the next slide</a:t>
            </a:r>
            <a:endParaRPr b="0" i="0" sz="1100" u="none" cap="none" strike="noStrike">
              <a:solidFill>
                <a:schemeClr val="dk1"/>
              </a:solidFill>
              <a:latin typeface="Arial"/>
              <a:ea typeface="Arial"/>
              <a:cs typeface="Arial"/>
              <a:sym typeface="Arial"/>
            </a:endParaRPr>
          </a:p>
        </p:txBody>
      </p:sp>
      <p:sp>
        <p:nvSpPr>
          <p:cNvPr id="204" name="Google Shape;204;p1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Example: a tool-call-or-prose judge prompt</a:t>
            </a:r>
            <a:endParaRPr sz="2200"/>
          </a:p>
        </p:txBody>
      </p:sp>
      <p:sp>
        <p:nvSpPr>
          <p:cNvPr id="211" name="Google Shape;211;p15"/>
          <p:cNvSpPr/>
          <p:nvPr/>
        </p:nvSpPr>
        <p:spPr>
          <a:xfrm>
            <a:off x="548640" y="1252728"/>
            <a:ext cx="7680960" cy="4758944"/>
          </a:xfrm>
          <a:prstGeom prst="roundRect">
            <a:avLst>
              <a:gd fmla="val 192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txBox="1"/>
          <p:nvPr/>
        </p:nvSpPr>
        <p:spPr>
          <a:xfrm>
            <a:off x="804672" y="1380744"/>
            <a:ext cx="71688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b="0" i="0" lang="en-US" sz="1100" u="none" cap="none" strike="noStrike">
                <a:solidFill>
                  <a:srgbClr val="94A3B8"/>
                </a:solidFill>
                <a:latin typeface="Consolas"/>
                <a:ea typeface="Consolas"/>
                <a:cs typeface="Consolas"/>
                <a:sym typeface="Consolas"/>
              </a:rPr>
              <a:t>judge prompt</a:t>
            </a:r>
            <a:endParaRPr b="0" i="0" sz="1100" u="none" cap="none" strike="noStrike">
              <a:solidFill>
                <a:schemeClr val="dk1"/>
              </a:solidFill>
              <a:latin typeface="Arial"/>
              <a:ea typeface="Arial"/>
              <a:cs typeface="Arial"/>
              <a:sym typeface="Arial"/>
            </a:endParaRPr>
          </a:p>
        </p:txBody>
      </p:sp>
      <p:sp>
        <p:nvSpPr>
          <p:cNvPr id="213" name="Google Shape;213;p15"/>
          <p:cNvSpPr/>
          <p:nvPr/>
        </p:nvSpPr>
        <p:spPr>
          <a:xfrm>
            <a:off x="640080" y="1737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640080" y="2499360"/>
            <a:ext cx="7498080" cy="281432"/>
          </a:xfrm>
          <a:prstGeom prst="roundRect">
            <a:avLst>
              <a:gd fmla="val 12996"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640080" y="3007360"/>
            <a:ext cx="7498080" cy="1297432"/>
          </a:xfrm>
          <a:prstGeom prst="roundRect">
            <a:avLst>
              <a:gd fmla="val 2819" name="adj"/>
            </a:avLst>
          </a:prstGeom>
          <a:solidFill>
            <a:srgbClr val="2E9E6B">
              <a:alpha val="21961"/>
            </a:srgbClr>
          </a:solidFill>
          <a:ln cap="flat" cmpd="sng" w="15875">
            <a:solidFill>
              <a:srgbClr val="2E9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640080" y="4531360"/>
            <a:ext cx="7498080" cy="535432"/>
          </a:xfrm>
          <a:prstGeom prst="roundRect">
            <a:avLst>
              <a:gd fmla="val 6831" name="adj"/>
            </a:avLst>
          </a:prstGeom>
          <a:solidFill>
            <a:srgbClr val="E8890C">
              <a:alpha val="21961"/>
            </a:srgbClr>
          </a:solidFill>
          <a:ln cap="flat" cmpd="sng" w="15875">
            <a:solidFill>
              <a:srgbClr val="E889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640080" y="5293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txBox="1"/>
          <p:nvPr/>
        </p:nvSpPr>
        <p:spPr>
          <a:xfrm>
            <a:off x="804672" y="1728216"/>
            <a:ext cx="7168896" cy="4109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ROLE:     You are auditing a transcript between a user</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and a support agent.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QUESTION: Did every turn that needed a tool call get one?</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PASS:     Every turn that needed a tool emitted the tool call.</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Why and how questions answered in prose are fine.</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FAIL:     Any turn needed a tool but the agent replied</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with prose only.</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Fixing it after the user pushes back does NOT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redeem the miss.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OUTPUT:   Reasoning in one or two sentences, then one word:</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PASS or FAIL.</a:t>
            </a:r>
            <a:endParaRPr b="0" i="0" sz="1400" u="none" cap="none" strike="noStrike">
              <a:solidFill>
                <a:schemeClr val="dk1"/>
              </a:solidFill>
              <a:latin typeface="Arial"/>
              <a:ea typeface="Arial"/>
              <a:cs typeface="Arial"/>
              <a:sym typeface="Arial"/>
            </a:endParaRPr>
          </a:p>
        </p:txBody>
      </p:sp>
      <p:sp>
        <p:nvSpPr>
          <p:cNvPr id="219" name="Google Shape;219;p15"/>
          <p:cNvSpPr txBox="1"/>
          <p:nvPr/>
        </p:nvSpPr>
        <p:spPr>
          <a:xfrm>
            <a:off x="8503920" y="1707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600"/>
              <a:buFont typeface="Arial"/>
              <a:buNone/>
            </a:pPr>
            <a:r>
              <a:rPr b="1" i="0" lang="en-US" sz="1600" u="none" cap="none" strike="noStrike">
                <a:solidFill>
                  <a:schemeClr val="accent2"/>
                </a:solidFill>
                <a:latin typeface="Arial"/>
                <a:ea typeface="Arial"/>
                <a:cs typeface="Arial"/>
                <a:sym typeface="Arial"/>
              </a:rPr>
              <a:t>1  Auditor role</a:t>
            </a:r>
            <a:endParaRPr b="0" i="0" sz="1600" u="none" cap="none" strike="noStrike">
              <a:solidFill>
                <a:schemeClr val="dk1"/>
              </a:solidFill>
              <a:latin typeface="Arial"/>
              <a:ea typeface="Arial"/>
              <a:cs typeface="Arial"/>
              <a:sym typeface="Arial"/>
            </a:endParaRPr>
          </a:p>
        </p:txBody>
      </p:sp>
      <p:sp>
        <p:nvSpPr>
          <p:cNvPr id="220" name="Google Shape;220;p15"/>
          <p:cNvSpPr txBox="1"/>
          <p:nvPr/>
        </p:nvSpPr>
        <p:spPr>
          <a:xfrm>
            <a:off x="8503920" y="1982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it evaluates, it does not help</a:t>
            </a:r>
            <a:endParaRPr b="0" i="0" sz="1400" u="none" cap="none" strike="noStrike">
              <a:solidFill>
                <a:schemeClr val="dk1"/>
              </a:solidFill>
              <a:latin typeface="Arial"/>
              <a:ea typeface="Arial"/>
              <a:cs typeface="Arial"/>
              <a:sym typeface="Arial"/>
            </a:endParaRPr>
          </a:p>
        </p:txBody>
      </p:sp>
      <p:sp>
        <p:nvSpPr>
          <p:cNvPr id="221" name="Google Shape;221;p15"/>
          <p:cNvSpPr txBox="1"/>
          <p:nvPr/>
        </p:nvSpPr>
        <p:spPr>
          <a:xfrm>
            <a:off x="8503920" y="2342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600"/>
              <a:buFont typeface="Arial"/>
              <a:buNone/>
            </a:pPr>
            <a:r>
              <a:rPr b="1" i="0" lang="en-US" sz="1600" u="none" cap="none" strike="noStrike">
                <a:solidFill>
                  <a:schemeClr val="accent2"/>
                </a:solidFill>
                <a:latin typeface="Arial"/>
                <a:ea typeface="Arial"/>
                <a:cs typeface="Arial"/>
                <a:sym typeface="Arial"/>
              </a:rPr>
              <a:t>2  Single binary question</a:t>
            </a:r>
            <a:endParaRPr b="0" i="0" sz="1600" u="none" cap="none" strike="noStrike">
              <a:solidFill>
                <a:schemeClr val="dk1"/>
              </a:solidFill>
              <a:latin typeface="Arial"/>
              <a:ea typeface="Arial"/>
              <a:cs typeface="Arial"/>
              <a:sym typeface="Arial"/>
            </a:endParaRPr>
          </a:p>
        </p:txBody>
      </p:sp>
      <p:sp>
        <p:nvSpPr>
          <p:cNvPr id="222" name="Google Shape;222;p15"/>
          <p:cNvSpPr txBox="1"/>
          <p:nvPr/>
        </p:nvSpPr>
        <p:spPr>
          <a:xfrm>
            <a:off x="8503920" y="2617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one criterion: tool call or prose</a:t>
            </a:r>
            <a:endParaRPr b="0" i="0" sz="1400" u="none" cap="none" strike="noStrike">
              <a:solidFill>
                <a:schemeClr val="dk1"/>
              </a:solidFill>
              <a:latin typeface="Arial"/>
              <a:ea typeface="Arial"/>
              <a:cs typeface="Arial"/>
              <a:sym typeface="Arial"/>
            </a:endParaRPr>
          </a:p>
        </p:txBody>
      </p:sp>
      <p:sp>
        <p:nvSpPr>
          <p:cNvPr id="223" name="Google Shape;223;p15"/>
          <p:cNvSpPr txBox="1"/>
          <p:nvPr/>
        </p:nvSpPr>
        <p:spPr>
          <a:xfrm>
            <a:off x="8503920" y="3358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3  Concrete standard</a:t>
            </a:r>
            <a:endParaRPr b="0" i="0" sz="1600" u="none" cap="none" strike="noStrike">
              <a:solidFill>
                <a:schemeClr val="dk1"/>
              </a:solidFill>
              <a:latin typeface="Arial"/>
              <a:ea typeface="Arial"/>
              <a:cs typeface="Arial"/>
              <a:sym typeface="Arial"/>
            </a:endParaRPr>
          </a:p>
        </p:txBody>
      </p:sp>
      <p:sp>
        <p:nvSpPr>
          <p:cNvPr id="224" name="Google Shape;224;p15"/>
          <p:cNvSpPr txBox="1"/>
          <p:nvPr/>
        </p:nvSpPr>
        <p:spPr>
          <a:xfrm>
            <a:off x="8503920" y="3633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PASS and FAIL each defined</a:t>
            </a:r>
            <a:endParaRPr b="0" i="0" sz="1400" u="none" cap="none" strike="noStrike">
              <a:solidFill>
                <a:schemeClr val="dk1"/>
              </a:solidFill>
              <a:latin typeface="Arial"/>
              <a:ea typeface="Arial"/>
              <a:cs typeface="Arial"/>
              <a:sym typeface="Arial"/>
            </a:endParaRPr>
          </a:p>
        </p:txBody>
      </p:sp>
      <p:sp>
        <p:nvSpPr>
          <p:cNvPr id="225" name="Google Shape;225;p15"/>
          <p:cNvSpPr txBox="1"/>
          <p:nvPr/>
        </p:nvSpPr>
        <p:spPr>
          <a:xfrm>
            <a:off x="8503920" y="4501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600"/>
              <a:buFont typeface="Arial"/>
              <a:buNone/>
            </a:pPr>
            <a:r>
              <a:rPr b="1" i="0" lang="en-US" sz="1600" u="none" cap="none" strike="noStrike">
                <a:solidFill>
                  <a:schemeClr val="accent4"/>
                </a:solidFill>
                <a:latin typeface="Arial"/>
                <a:ea typeface="Arial"/>
                <a:cs typeface="Arial"/>
                <a:sym typeface="Arial"/>
              </a:rPr>
              <a:t>4  Boundary example</a:t>
            </a:r>
            <a:endParaRPr b="0" i="0" sz="1600" u="none" cap="none" strike="noStrike">
              <a:solidFill>
                <a:schemeClr val="dk1"/>
              </a:solidFill>
              <a:latin typeface="Arial"/>
              <a:ea typeface="Arial"/>
              <a:cs typeface="Arial"/>
              <a:sym typeface="Arial"/>
            </a:endParaRPr>
          </a:p>
        </p:txBody>
      </p:sp>
      <p:sp>
        <p:nvSpPr>
          <p:cNvPr id="226" name="Google Shape;226;p15"/>
          <p:cNvSpPr txBox="1"/>
          <p:nvPr/>
        </p:nvSpPr>
        <p:spPr>
          <a:xfrm>
            <a:off x="8503920" y="4776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the edge case, spelled out</a:t>
            </a:r>
            <a:endParaRPr b="0" i="0" sz="1400" u="none" cap="none" strike="noStrike">
              <a:solidFill>
                <a:schemeClr val="dk1"/>
              </a:solidFill>
              <a:latin typeface="Arial"/>
              <a:ea typeface="Arial"/>
              <a:cs typeface="Arial"/>
              <a:sym typeface="Arial"/>
            </a:endParaRPr>
          </a:p>
        </p:txBody>
      </p:sp>
      <p:sp>
        <p:nvSpPr>
          <p:cNvPr id="227" name="Google Shape;227;p15"/>
          <p:cNvSpPr txBox="1"/>
          <p:nvPr/>
        </p:nvSpPr>
        <p:spPr>
          <a:xfrm>
            <a:off x="8503920" y="5263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600"/>
              <a:buFont typeface="Arial"/>
              <a:buNone/>
            </a:pPr>
            <a:r>
              <a:rPr b="1" i="0" lang="en-US" sz="1600" u="none" cap="none" strike="noStrike">
                <a:solidFill>
                  <a:schemeClr val="accent2"/>
                </a:solidFill>
                <a:latin typeface="Arial"/>
                <a:ea typeface="Arial"/>
                <a:cs typeface="Arial"/>
                <a:sym typeface="Arial"/>
              </a:rPr>
              <a:t>5  Output format</a:t>
            </a:r>
            <a:endParaRPr b="0" i="0" sz="1600" u="none" cap="none" strike="noStrike">
              <a:solidFill>
                <a:schemeClr val="dk1"/>
              </a:solidFill>
              <a:latin typeface="Arial"/>
              <a:ea typeface="Arial"/>
              <a:cs typeface="Arial"/>
              <a:sym typeface="Arial"/>
            </a:endParaRPr>
          </a:p>
        </p:txBody>
      </p:sp>
      <p:sp>
        <p:nvSpPr>
          <p:cNvPr id="228" name="Google Shape;228;p15"/>
          <p:cNvSpPr txBox="1"/>
          <p:nvPr/>
        </p:nvSpPr>
        <p:spPr>
          <a:xfrm>
            <a:off x="8503920" y="5538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reasoning first, then the verdict</a:t>
            </a:r>
            <a:endParaRPr b="0" i="0" sz="1400" u="none" cap="none" strike="noStrike">
              <a:solidFill>
                <a:schemeClr val="dk1"/>
              </a:solidFill>
              <a:latin typeface="Arial"/>
              <a:ea typeface="Arial"/>
              <a:cs typeface="Arial"/>
              <a:sym typeface="Arial"/>
            </a:endParaRPr>
          </a:p>
        </p:txBody>
      </p:sp>
      <p:sp>
        <p:nvSpPr>
          <p:cNvPr id="229" name="Google Shape;229;p1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One judge, one binary criterion: make failures actionable</a:t>
            </a:r>
            <a:endParaRPr sz="2200"/>
          </a:p>
        </p:txBody>
      </p:sp>
      <p:sp>
        <p:nvSpPr>
          <p:cNvPr id="236" name="Google Shape;236;p16"/>
          <p:cNvSpPr txBox="1"/>
          <p:nvPr/>
        </p:nvSpPr>
        <p:spPr>
          <a:xfrm>
            <a:off x="548640" y="1527048"/>
            <a:ext cx="5212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100"/>
              <a:buFont typeface="Arial"/>
              <a:buNone/>
            </a:pPr>
            <a:r>
              <a:rPr b="1" i="0" lang="en-US" sz="2100" u="none" cap="none" strike="noStrike">
                <a:solidFill>
                  <a:schemeClr val="accent3"/>
                </a:solidFill>
                <a:latin typeface="Arial"/>
                <a:ea typeface="Arial"/>
                <a:cs typeface="Arial"/>
                <a:sym typeface="Arial"/>
              </a:rPr>
              <a:t>Anti-pattern: one prompt, three criteria</a:t>
            </a:r>
            <a:endParaRPr b="0" i="0" sz="2100" u="none" cap="none" strike="noStrike">
              <a:solidFill>
                <a:schemeClr val="dk1"/>
              </a:solidFill>
              <a:latin typeface="Arial"/>
              <a:ea typeface="Arial"/>
              <a:cs typeface="Arial"/>
              <a:sym typeface="Arial"/>
            </a:endParaRPr>
          </a:p>
        </p:txBody>
      </p:sp>
      <p:sp>
        <p:nvSpPr>
          <p:cNvPr id="237" name="Google Shape;237;p16"/>
          <p:cNvSpPr txBox="1"/>
          <p:nvPr/>
        </p:nvSpPr>
        <p:spPr>
          <a:xfrm>
            <a:off x="548640" y="2258568"/>
            <a:ext cx="5212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0" i="1" lang="en-US" sz="2200" u="none" cap="none" strike="noStrike">
                <a:solidFill>
                  <a:schemeClr val="dk1"/>
                </a:solidFill>
                <a:latin typeface="Arial"/>
                <a:ea typeface="Arial"/>
                <a:cs typeface="Arial"/>
                <a:sym typeface="Arial"/>
              </a:rPr>
              <a:t>“Rate this response 1-5 on helpfulness, accuracy, and tone.”</a:t>
            </a:r>
            <a:endParaRPr b="0" i="0" sz="2200" u="none" cap="none" strike="noStrike">
              <a:solidFill>
                <a:schemeClr val="dk1"/>
              </a:solidFill>
              <a:latin typeface="Arial"/>
              <a:ea typeface="Arial"/>
              <a:cs typeface="Arial"/>
              <a:sym typeface="Arial"/>
            </a:endParaRPr>
          </a:p>
        </p:txBody>
      </p:sp>
      <p:sp>
        <p:nvSpPr>
          <p:cNvPr id="238" name="Google Shape;238;p16"/>
          <p:cNvSpPr txBox="1"/>
          <p:nvPr/>
        </p:nvSpPr>
        <p:spPr>
          <a:xfrm>
            <a:off x="548640" y="3447288"/>
            <a:ext cx="5212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Three criteria bleed together: </a:t>
            </a:r>
            <a:r>
              <a:rPr b="0" i="0" lang="en-US" sz="2000" u="none" cap="none" strike="noStrike">
                <a:solidFill>
                  <a:schemeClr val="dk1"/>
                </a:solidFill>
                <a:latin typeface="Arial"/>
                <a:ea typeface="Arial"/>
                <a:cs typeface="Arial"/>
                <a:sym typeface="Arial"/>
              </a:rPr>
              <a:t>one score, three meanings</a:t>
            </a:r>
            <a:endParaRPr b="0" i="0" sz="20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When it fails, </a:t>
            </a:r>
            <a:r>
              <a:rPr b="0" i="0" lang="en-US" sz="2000" u="none" cap="none" strike="noStrike">
                <a:solidFill>
                  <a:schemeClr val="dk1"/>
                </a:solidFill>
                <a:latin typeface="Arial"/>
                <a:ea typeface="Arial"/>
                <a:cs typeface="Arial"/>
                <a:sym typeface="Arial"/>
              </a:rPr>
              <a:t>you cannot tell which one triggered</a:t>
            </a:r>
            <a:endParaRPr b="0" i="0" sz="2000" u="none" cap="none" strike="noStrike">
              <a:solidFill>
                <a:schemeClr val="dk1"/>
              </a:solidFill>
              <a:latin typeface="Arial"/>
              <a:ea typeface="Arial"/>
              <a:cs typeface="Arial"/>
              <a:sym typeface="Arial"/>
            </a:endParaRPr>
          </a:p>
        </p:txBody>
      </p:sp>
      <p:cxnSp>
        <p:nvCxnSpPr>
          <p:cNvPr id="239" name="Google Shape;239;p16"/>
          <p:cNvCxnSpPr/>
          <p:nvPr/>
        </p:nvCxnSpPr>
        <p:spPr>
          <a:xfrm>
            <a:off x="5989320" y="1527048"/>
            <a:ext cx="0" cy="3657600"/>
          </a:xfrm>
          <a:prstGeom prst="straightConnector1">
            <a:avLst/>
          </a:prstGeom>
          <a:noFill/>
          <a:ln cap="flat" cmpd="sng" w="9525">
            <a:solidFill>
              <a:srgbClr val="D5DBE1"/>
            </a:solidFill>
            <a:prstDash val="solid"/>
            <a:round/>
            <a:headEnd len="sm" w="sm" type="none"/>
            <a:tailEnd len="sm" w="sm" type="none"/>
          </a:ln>
        </p:spPr>
      </p:cxnSp>
      <p:sp>
        <p:nvSpPr>
          <p:cNvPr id="240" name="Google Shape;240;p16"/>
          <p:cNvSpPr txBox="1"/>
          <p:nvPr/>
        </p:nvSpPr>
        <p:spPr>
          <a:xfrm>
            <a:off x="6400800" y="1527048"/>
            <a:ext cx="5212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100"/>
              <a:buFont typeface="Arial"/>
              <a:buNone/>
            </a:pPr>
            <a:r>
              <a:rPr b="1" i="0" lang="en-US" sz="2100" u="none" cap="none" strike="noStrike">
                <a:solidFill>
                  <a:schemeClr val="accent1"/>
                </a:solidFill>
                <a:latin typeface="Arial"/>
                <a:ea typeface="Arial"/>
                <a:cs typeface="Arial"/>
                <a:sym typeface="Arial"/>
              </a:rPr>
              <a:t>Fix: three judges, one question each</a:t>
            </a:r>
            <a:endParaRPr b="0" i="0" sz="2100" u="none" cap="none" strike="noStrike">
              <a:solidFill>
                <a:schemeClr val="dk1"/>
              </a:solidFill>
              <a:latin typeface="Arial"/>
              <a:ea typeface="Arial"/>
              <a:cs typeface="Arial"/>
              <a:sym typeface="Arial"/>
            </a:endParaRPr>
          </a:p>
        </p:txBody>
      </p:sp>
      <p:sp>
        <p:nvSpPr>
          <p:cNvPr id="241" name="Google Shape;241;p16"/>
          <p:cNvSpPr txBox="1"/>
          <p:nvPr/>
        </p:nvSpPr>
        <p:spPr>
          <a:xfrm>
            <a:off x="6400800" y="2258568"/>
            <a:ext cx="5212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0" i="1" lang="en-US" sz="2200" u="none" cap="none" strike="noStrike">
                <a:solidFill>
                  <a:schemeClr val="dk1"/>
                </a:solidFill>
                <a:latin typeface="Arial"/>
                <a:ea typeface="Arial"/>
                <a:cs typeface="Arial"/>
                <a:sym typeface="Arial"/>
              </a:rPr>
              <a:t>Helpful? Accurate? Right tone? Each judge answers PASS or FAIL.</a:t>
            </a:r>
            <a:endParaRPr b="0" i="0" sz="2200" u="none" cap="none" strike="noStrike">
              <a:solidFill>
                <a:schemeClr val="dk1"/>
              </a:solidFill>
              <a:latin typeface="Arial"/>
              <a:ea typeface="Arial"/>
              <a:cs typeface="Arial"/>
              <a:sym typeface="Arial"/>
            </a:endParaRPr>
          </a:p>
        </p:txBody>
      </p:sp>
      <p:sp>
        <p:nvSpPr>
          <p:cNvPr id="242" name="Google Shape;242;p16"/>
          <p:cNvSpPr txBox="1"/>
          <p:nvPr/>
        </p:nvSpPr>
        <p:spPr>
          <a:xfrm>
            <a:off x="6400800" y="3447288"/>
            <a:ext cx="5212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One failure code per judge, </a:t>
            </a:r>
            <a:r>
              <a:rPr b="0" i="0" lang="en-US" sz="2000" u="none" cap="none" strike="noStrike">
                <a:solidFill>
                  <a:schemeClr val="dk1"/>
                </a:solidFill>
                <a:latin typeface="Arial"/>
                <a:ea typeface="Arial"/>
                <a:cs typeface="Arial"/>
                <a:sym typeface="Arial"/>
              </a:rPr>
              <a:t>each with its own rubric</a:t>
            </a:r>
            <a:endParaRPr b="0" i="0" sz="20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Binary forces clarity </a:t>
            </a:r>
            <a:r>
              <a:rPr b="0" i="0" lang="en-US" sz="2000" u="none" cap="none" strike="noStrike">
                <a:solidFill>
                  <a:schemeClr val="dk1"/>
                </a:solidFill>
                <a:latin typeface="Arial"/>
                <a:ea typeface="Arial"/>
                <a:cs typeface="Arial"/>
                <a:sym typeface="Arial"/>
              </a:rPr>
              <a:t>and is easy to validate against human labels</a:t>
            </a:r>
            <a:endParaRPr b="0" i="0" sz="2000" u="none" cap="none" strike="noStrike">
              <a:solidFill>
                <a:schemeClr val="dk1"/>
              </a:solidFill>
              <a:latin typeface="Arial"/>
              <a:ea typeface="Arial"/>
              <a:cs typeface="Arial"/>
              <a:sym typeface="Arial"/>
            </a:endParaRPr>
          </a:p>
        </p:txBody>
      </p:sp>
      <p:sp>
        <p:nvSpPr>
          <p:cNvPr id="243" name="Google Shape;243;p1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Accuracy fails, tone passes: you know exactly what broke</a:t>
            </a:r>
            <a:endParaRPr b="0" i="0" sz="1800" u="none" cap="none" strike="noStrike">
              <a:solidFill>
                <a:schemeClr val="dk1"/>
              </a:solidFill>
              <a:latin typeface="Arial"/>
              <a:ea typeface="Arial"/>
              <a:cs typeface="Arial"/>
              <a:sym typeface="Arial"/>
            </a:endParaRPr>
          </a:p>
        </p:txBody>
      </p:sp>
      <p:sp>
        <p:nvSpPr>
          <p:cNvPr id="244" name="Google Shape;244;p1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Four judge types cover most failure codes</a:t>
            </a:r>
            <a:endParaRPr sz="2200"/>
          </a:p>
        </p:txBody>
      </p:sp>
      <p:graphicFrame>
        <p:nvGraphicFramePr>
          <p:cNvPr id="251" name="Google Shape;251;p17"/>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2651750"/>
                <a:gridCol w="4572000"/>
                <a:gridCol w="3840475"/>
              </a:tblGrid>
              <a:tr h="804675">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Judge type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What it checks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Example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Tone and style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clarity, verbosity, empathy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empathetic to a frustrated user?</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Factual correctness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true, complete, consistent with the reference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hallucination detection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Instruction following</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in scope, right structure, correct policy priority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safety-guideline adherence → week 3</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Task completion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all steps done, tools and handoffs completed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orchestration correctness → week 5</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252" name="Google Shape;252;p1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From week 1: Stale Knowledge → factual correctness · Incorrect Action → task completion</a:t>
            </a:r>
            <a:endParaRPr b="0" i="0" sz="1800" u="none" cap="none" strike="noStrike">
              <a:solidFill>
                <a:schemeClr val="dk1"/>
              </a:solidFill>
              <a:latin typeface="Arial"/>
              <a:ea typeface="Arial"/>
              <a:cs typeface="Arial"/>
              <a:sym typeface="Arial"/>
            </a:endParaRPr>
          </a:p>
        </p:txBody>
      </p:sp>
      <p:sp>
        <p:nvSpPr>
          <p:cNvPr id="253" name="Google Shape;253;p1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3</a:t>
            </a:r>
            <a:endParaRPr b="0" i="0" sz="1200" u="none" cap="none" strike="noStrike">
              <a:solidFill>
                <a:schemeClr val="dk1"/>
              </a:solidFill>
              <a:latin typeface="Arial"/>
              <a:ea typeface="Arial"/>
              <a:cs typeface="Arial"/>
              <a:sym typeface="Arial"/>
            </a:endParaRPr>
          </a:p>
        </p:txBody>
      </p:sp>
      <p:sp>
        <p:nvSpPr>
          <p:cNvPr id="261" name="Google Shape;261;p1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Validate your evaluator against human judgment</a:t>
            </a:r>
            <a:endParaRPr sz="3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How to validate an LLM judge against human labels</a:t>
            </a:r>
            <a:endParaRPr sz="2200"/>
          </a:p>
        </p:txBody>
      </p:sp>
      <p:pic>
        <p:nvPicPr>
          <p:cNvPr descr="A loop of four steps. 1: run the judge on 30 to 50 labeled examples. 2: compute agreement and Cohen's kappa. 3: read every disagreement, each case where judge and human differ. 4: refine the rubric, add a boundary and re-run. Repeat until the judge clears the trust bar." id="268" name="Google Shape;268;p19"/>
          <p:cNvPicPr preferRelativeResize="0"/>
          <p:nvPr/>
        </p:nvPicPr>
        <p:blipFill rotWithShape="1">
          <a:blip r:embed="rId3">
            <a:alphaModFix/>
          </a:blip>
          <a:srcRect b="0" l="0" r="0" t="0"/>
          <a:stretch/>
        </p:blipFill>
        <p:spPr>
          <a:xfrm>
            <a:off x="548640" y="1344168"/>
            <a:ext cx="6949440" cy="4389120"/>
          </a:xfrm>
          <a:prstGeom prst="rect">
            <a:avLst/>
          </a:prstGeom>
          <a:noFill/>
          <a:ln>
            <a:noFill/>
          </a:ln>
        </p:spPr>
      </p:pic>
      <p:sp>
        <p:nvSpPr>
          <p:cNvPr id="269" name="Google Shape;269;p19"/>
          <p:cNvSpPr txBox="1"/>
          <p:nvPr/>
        </p:nvSpPr>
        <p:spPr>
          <a:xfrm>
            <a:off x="7863840" y="1801368"/>
            <a:ext cx="374904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Target: </a:t>
            </a:r>
            <a:r>
              <a:rPr b="0" i="0" lang="en-US" sz="1800" u="none" cap="none" strike="noStrike">
                <a:solidFill>
                  <a:schemeClr val="dk1"/>
                </a:solidFill>
                <a:latin typeface="Arial"/>
                <a:ea typeface="Arial"/>
                <a:cs typeface="Arial"/>
                <a:sym typeface="Arial"/>
              </a:rPr>
              <a:t>85% agreement and κ of 0.6 or more, before the judge drives a ship decision</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Errors in one direction </a:t>
            </a:r>
            <a:r>
              <a:rPr b="0" i="0" lang="en-US" sz="1800" u="none" cap="none" strike="noStrike">
                <a:solidFill>
                  <a:schemeClr val="dk1"/>
                </a:solidFill>
                <a:latin typeface="Arial"/>
                <a:ea typeface="Arial"/>
                <a:cs typeface="Arial"/>
                <a:sym typeface="Arial"/>
              </a:rPr>
              <a:t>are a fixable bias. Random errors mean a vague rubric</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accent4"/>
              </a:buClr>
              <a:buSzPts val="1800"/>
              <a:buFont typeface="Arial"/>
              <a:buNone/>
            </a:pPr>
            <a:r>
              <a:rPr b="1" i="0" lang="en-US" sz="1800" u="none" cap="none" strike="noStrike">
                <a:solidFill>
                  <a:schemeClr val="accent4"/>
                </a:solidFill>
                <a:latin typeface="Arial"/>
                <a:ea typeface="Arial"/>
                <a:cs typeface="Arial"/>
                <a:sym typeface="Arial"/>
              </a:rPr>
              <a:t>Keep a held-out set: </a:t>
            </a:r>
            <a:r>
              <a:rPr b="0" i="0" lang="en-US" sz="1800" u="none" cap="none" strike="noStrike">
                <a:solidFill>
                  <a:schemeClr val="dk1"/>
                </a:solidFill>
                <a:latin typeface="Arial"/>
                <a:ea typeface="Arial"/>
                <a:cs typeface="Arial"/>
                <a:sym typeface="Arial"/>
              </a:rPr>
              <a:t>tuning and testing on the same labels flatters the judge</a:t>
            </a:r>
            <a:endParaRPr b="0" i="0" sz="1800" u="none" cap="none" strike="noStrike">
              <a:solidFill>
                <a:schemeClr val="dk1"/>
              </a:solidFill>
              <a:latin typeface="Arial"/>
              <a:ea typeface="Arial"/>
              <a:cs typeface="Arial"/>
              <a:sym typeface="Arial"/>
            </a:endParaRPr>
          </a:p>
        </p:txBody>
      </p:sp>
      <p:sp>
        <p:nvSpPr>
          <p:cNvPr id="270" name="Google Shape;270;p1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How to read a judge-vs-human agreement matrix</a:t>
            </a:r>
            <a:endParaRPr sz="2200"/>
          </a:p>
        </p:txBody>
      </p:sp>
      <p:sp>
        <p:nvSpPr>
          <p:cNvPr id="277" name="Google Shape;277;p20"/>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A faithfulness judge against 50 human labels</a:t>
            </a:r>
            <a:endParaRPr b="0" i="0" sz="1400" u="none" cap="none" strike="noStrike">
              <a:solidFill>
                <a:schemeClr val="dk1"/>
              </a:solidFill>
              <a:latin typeface="Arial"/>
              <a:ea typeface="Arial"/>
              <a:cs typeface="Arial"/>
              <a:sym typeface="Arial"/>
            </a:endParaRPr>
          </a:p>
        </p:txBody>
      </p:sp>
      <p:pic>
        <p:nvPicPr>
          <p:cNvPr descr="2 by 2 matrix of human label against judge verdict on 50 cases: 31 where both say pass, 4 where the human says pass and the judge says fail (false fail, judge too strict), 7 where the human says fail and the judge says pass (false pass, judge too lenient), 8 where both say fail. Agreement is 31 plus 8, 39 of 50, 78 percent." id="278" name="Google Shape;278;p20"/>
          <p:cNvPicPr preferRelativeResize="0"/>
          <p:nvPr/>
        </p:nvPicPr>
        <p:blipFill rotWithShape="1">
          <a:blip r:embed="rId3">
            <a:alphaModFix/>
          </a:blip>
          <a:srcRect b="0" l="0" r="0" t="0"/>
          <a:stretch/>
        </p:blipFill>
        <p:spPr>
          <a:xfrm>
            <a:off x="548640" y="1527048"/>
            <a:ext cx="6949440" cy="4206240"/>
          </a:xfrm>
          <a:prstGeom prst="rect">
            <a:avLst/>
          </a:prstGeom>
          <a:noFill/>
          <a:ln>
            <a:noFill/>
          </a:ln>
        </p:spPr>
      </p:pic>
      <p:sp>
        <p:nvSpPr>
          <p:cNvPr id="279" name="Google Shape;279;p20"/>
          <p:cNvSpPr txBox="1"/>
          <p:nvPr/>
        </p:nvSpPr>
        <p:spPr>
          <a:xfrm>
            <a:off x="7863840" y="1984248"/>
            <a:ext cx="3749040" cy="3474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78% agreement: </a:t>
            </a:r>
            <a:r>
              <a:rPr b="0" i="0" lang="en-US" sz="1800" u="none" cap="none" strike="noStrike">
                <a:solidFill>
                  <a:schemeClr val="dk1"/>
                </a:solidFill>
                <a:latin typeface="Arial"/>
                <a:ea typeface="Arial"/>
                <a:cs typeface="Arial"/>
                <a:sym typeface="Arial"/>
              </a:rPr>
              <a:t>below the 85% bar</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7 false passes: </a:t>
            </a:r>
            <a:r>
              <a:rPr b="0" i="0" lang="en-US" sz="1800" u="none" cap="none" strike="noStrike">
                <a:solidFill>
                  <a:schemeClr val="dk1"/>
                </a:solidFill>
                <a:latin typeface="Arial"/>
                <a:ea typeface="Arial"/>
                <a:cs typeface="Arial"/>
                <a:sym typeface="Arial"/>
              </a:rPr>
              <a:t>real failures the judge let through</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Read those 7 together: </a:t>
            </a:r>
            <a:r>
              <a:rPr b="0" i="0" lang="en-US" sz="1800" u="none" cap="none" strike="noStrike">
                <a:solidFill>
                  <a:schemeClr val="dk1"/>
                </a:solidFill>
                <a:latin typeface="Arial"/>
                <a:ea typeface="Arial"/>
                <a:cs typeface="Arial"/>
                <a:sym typeface="Arial"/>
              </a:rPr>
              <a:t>5 cite the wrong doc section, so one boundary rule fixes 5 of the 7 false passes</a:t>
            </a:r>
            <a:endParaRPr b="0" i="0" sz="1800" u="none" cap="none" strike="noStrike">
              <a:solidFill>
                <a:schemeClr val="dk1"/>
              </a:solidFill>
              <a:latin typeface="Arial"/>
              <a:ea typeface="Arial"/>
              <a:cs typeface="Arial"/>
              <a:sym typeface="Arial"/>
            </a:endParaRPr>
          </a:p>
        </p:txBody>
      </p:sp>
      <p:sp>
        <p:nvSpPr>
          <p:cNvPr id="280" name="Google Shape;280;p20"/>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281" name="Google Shape;281;p2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False passes: the most dangerous judge error</a:t>
            </a:r>
            <a:endParaRPr sz="2200"/>
          </a:p>
        </p:txBody>
      </p:sp>
      <p:pic>
        <p:nvPicPr>
          <p:cNvPr descr="Two lanes. False fail, the judge is too strict: a good answer gets FAIL, a human re-checks it, so the error is recoverable and costs review time. False pass, the judge is too lenient: a broken answer gets PASS and ships to users, so the error is unrecoverable because nobody is looking." id="288" name="Google Shape;288;p21"/>
          <p:cNvPicPr preferRelativeResize="0"/>
          <p:nvPr/>
        </p:nvPicPr>
        <p:blipFill rotWithShape="1">
          <a:blip r:embed="rId3">
            <a:alphaModFix/>
          </a:blip>
          <a:srcRect b="0" l="0" r="0" t="0"/>
          <a:stretch/>
        </p:blipFill>
        <p:spPr>
          <a:xfrm>
            <a:off x="612648" y="1252728"/>
            <a:ext cx="10972800" cy="4206240"/>
          </a:xfrm>
          <a:prstGeom prst="rect">
            <a:avLst/>
          </a:prstGeom>
          <a:noFill/>
          <a:ln>
            <a:noFill/>
          </a:ln>
        </p:spPr>
      </p:pic>
      <p:sp>
        <p:nvSpPr>
          <p:cNvPr id="289" name="Google Shape;289;p21"/>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Read the false passes together, find the shared loophole, make it a FAIL boundary, re-run</a:t>
            </a:r>
            <a:endParaRPr b="0" i="0" sz="1800" u="none" cap="none" strike="noStrike">
              <a:solidFill>
                <a:schemeClr val="dk1"/>
              </a:solidFill>
              <a:latin typeface="Arial"/>
              <a:ea typeface="Arial"/>
              <a:cs typeface="Arial"/>
              <a:sym typeface="Arial"/>
            </a:endParaRPr>
          </a:p>
        </p:txBody>
      </p:sp>
      <p:sp>
        <p:nvSpPr>
          <p:cNvPr id="290" name="Google Shape;290;p2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Requirements before you trust and ship a judge</a:t>
            </a:r>
            <a:endParaRPr sz="2200"/>
          </a:p>
        </p:txBody>
      </p:sp>
      <p:sp>
        <p:nvSpPr>
          <p:cNvPr id="297" name="Google Shape;297;p22"/>
          <p:cNvSpPr txBox="1"/>
          <p:nvPr/>
        </p:nvSpPr>
        <p:spPr>
          <a:xfrm>
            <a:off x="731520" y="17099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1</a:t>
            </a:r>
            <a:endParaRPr b="0" i="0" sz="2200" u="none" cap="none" strike="noStrike">
              <a:solidFill>
                <a:schemeClr val="dk1"/>
              </a:solidFill>
              <a:latin typeface="Arial"/>
              <a:ea typeface="Arial"/>
              <a:cs typeface="Arial"/>
              <a:sym typeface="Arial"/>
            </a:endParaRPr>
          </a:p>
        </p:txBody>
      </p:sp>
      <p:sp>
        <p:nvSpPr>
          <p:cNvPr id="298" name="Google Shape;298;p22"/>
          <p:cNvSpPr txBox="1"/>
          <p:nvPr/>
        </p:nvSpPr>
        <p:spPr>
          <a:xfrm>
            <a:off x="1188720" y="17099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Agreement ≥ 85%</a:t>
            </a:r>
            <a:endParaRPr b="0" i="0" sz="2200" u="none" cap="none" strike="noStrike">
              <a:solidFill>
                <a:schemeClr val="dk1"/>
              </a:solidFill>
              <a:latin typeface="Arial"/>
              <a:ea typeface="Arial"/>
              <a:cs typeface="Arial"/>
              <a:sym typeface="Arial"/>
            </a:endParaRPr>
          </a:p>
        </p:txBody>
      </p:sp>
      <p:sp>
        <p:nvSpPr>
          <p:cNvPr id="299" name="Google Shape;299;p22"/>
          <p:cNvSpPr txBox="1"/>
          <p:nvPr/>
        </p:nvSpPr>
        <p:spPr>
          <a:xfrm>
            <a:off x="1188720" y="21140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on 30-50 diverse human-labeled cases. Easy cases inflate it</a:t>
            </a:r>
            <a:endParaRPr b="0" i="0" sz="1800" u="none" cap="none" strike="noStrike">
              <a:solidFill>
                <a:schemeClr val="dk1"/>
              </a:solidFill>
              <a:latin typeface="Arial"/>
              <a:ea typeface="Arial"/>
              <a:cs typeface="Arial"/>
              <a:sym typeface="Arial"/>
            </a:endParaRPr>
          </a:p>
        </p:txBody>
      </p:sp>
      <p:sp>
        <p:nvSpPr>
          <p:cNvPr id="300" name="Google Shape;300;p22"/>
          <p:cNvSpPr txBox="1"/>
          <p:nvPr/>
        </p:nvSpPr>
        <p:spPr>
          <a:xfrm>
            <a:off x="731520" y="35387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2</a:t>
            </a:r>
            <a:endParaRPr b="0" i="0" sz="2200" u="none" cap="none" strike="noStrike">
              <a:solidFill>
                <a:schemeClr val="dk1"/>
              </a:solidFill>
              <a:latin typeface="Arial"/>
              <a:ea typeface="Arial"/>
              <a:cs typeface="Arial"/>
              <a:sym typeface="Arial"/>
            </a:endParaRPr>
          </a:p>
        </p:txBody>
      </p:sp>
      <p:sp>
        <p:nvSpPr>
          <p:cNvPr id="301" name="Google Shape;301;p22"/>
          <p:cNvSpPr txBox="1"/>
          <p:nvPr/>
        </p:nvSpPr>
        <p:spPr>
          <a:xfrm>
            <a:off x="1188720" y="35387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Cohen’s κ ≥ 0.6</a:t>
            </a:r>
            <a:endParaRPr b="0" i="0" sz="2200" u="none" cap="none" strike="noStrike">
              <a:solidFill>
                <a:schemeClr val="dk1"/>
              </a:solidFill>
              <a:latin typeface="Arial"/>
              <a:ea typeface="Arial"/>
              <a:cs typeface="Arial"/>
              <a:sym typeface="Arial"/>
            </a:endParaRPr>
          </a:p>
        </p:txBody>
      </p:sp>
      <p:sp>
        <p:nvSpPr>
          <p:cNvPr id="302" name="Google Shape;302;p22"/>
          <p:cNvSpPr txBox="1"/>
          <p:nvPr/>
        </p:nvSpPr>
        <p:spPr>
          <a:xfrm>
            <a:off x="1188720" y="39428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chance-corrected, so a skewed set cannot fool it the way raw accuracy can</a:t>
            </a:r>
            <a:endParaRPr b="0" i="0" sz="1800" u="none" cap="none" strike="noStrike">
              <a:solidFill>
                <a:schemeClr val="dk1"/>
              </a:solidFill>
              <a:latin typeface="Arial"/>
              <a:ea typeface="Arial"/>
              <a:cs typeface="Arial"/>
              <a:sym typeface="Arial"/>
            </a:endParaRPr>
          </a:p>
        </p:txBody>
      </p:sp>
      <p:sp>
        <p:nvSpPr>
          <p:cNvPr id="303" name="Google Shape;303;p22"/>
          <p:cNvSpPr txBox="1"/>
          <p:nvPr/>
        </p:nvSpPr>
        <p:spPr>
          <a:xfrm>
            <a:off x="6446520" y="17099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3</a:t>
            </a:r>
            <a:endParaRPr b="0" i="0" sz="2200" u="none" cap="none" strike="noStrike">
              <a:solidFill>
                <a:schemeClr val="dk1"/>
              </a:solidFill>
              <a:latin typeface="Arial"/>
              <a:ea typeface="Arial"/>
              <a:cs typeface="Arial"/>
              <a:sym typeface="Arial"/>
            </a:endParaRPr>
          </a:p>
        </p:txBody>
      </p:sp>
      <p:sp>
        <p:nvSpPr>
          <p:cNvPr id="304" name="Google Shape;304;p22"/>
          <p:cNvSpPr txBox="1"/>
          <p:nvPr/>
        </p:nvSpPr>
        <p:spPr>
          <a:xfrm>
            <a:off x="6903720" y="17099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Few false passes, each one read</a:t>
            </a:r>
            <a:endParaRPr b="0" i="0" sz="2200" u="none" cap="none" strike="noStrike">
              <a:solidFill>
                <a:schemeClr val="dk1"/>
              </a:solidFill>
              <a:latin typeface="Arial"/>
              <a:ea typeface="Arial"/>
              <a:cs typeface="Arial"/>
              <a:sym typeface="Arial"/>
            </a:endParaRPr>
          </a:p>
        </p:txBody>
      </p:sp>
      <p:sp>
        <p:nvSpPr>
          <p:cNvPr id="305" name="Google Shape;305;p22"/>
          <p:cNvSpPr txBox="1"/>
          <p:nvPr/>
        </p:nvSpPr>
        <p:spPr>
          <a:xfrm>
            <a:off x="6903720" y="21140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the dangerous quadrant is small, and you know exactly what is in it</a:t>
            </a:r>
            <a:endParaRPr b="0" i="0" sz="1800" u="none" cap="none" strike="noStrike">
              <a:solidFill>
                <a:schemeClr val="dk1"/>
              </a:solidFill>
              <a:latin typeface="Arial"/>
              <a:ea typeface="Arial"/>
              <a:cs typeface="Arial"/>
              <a:sym typeface="Arial"/>
            </a:endParaRPr>
          </a:p>
        </p:txBody>
      </p:sp>
      <p:sp>
        <p:nvSpPr>
          <p:cNvPr id="306" name="Google Shape;306;p22"/>
          <p:cNvSpPr txBox="1"/>
          <p:nvPr/>
        </p:nvSpPr>
        <p:spPr>
          <a:xfrm>
            <a:off x="6446520" y="35387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4</a:t>
            </a:r>
            <a:endParaRPr b="0" i="0" sz="2200" u="none" cap="none" strike="noStrike">
              <a:solidFill>
                <a:schemeClr val="dk1"/>
              </a:solidFill>
              <a:latin typeface="Arial"/>
              <a:ea typeface="Arial"/>
              <a:cs typeface="Arial"/>
              <a:sym typeface="Arial"/>
            </a:endParaRPr>
          </a:p>
        </p:txBody>
      </p:sp>
      <p:sp>
        <p:nvSpPr>
          <p:cNvPr id="307" name="Google Shape;307;p22"/>
          <p:cNvSpPr txBox="1"/>
          <p:nvPr/>
        </p:nvSpPr>
        <p:spPr>
          <a:xfrm>
            <a:off x="6903720" y="35387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Failures are explainable</a:t>
            </a:r>
            <a:endParaRPr b="0" i="0" sz="2200" u="none" cap="none" strike="noStrike">
              <a:solidFill>
                <a:schemeClr val="dk1"/>
              </a:solidFill>
              <a:latin typeface="Arial"/>
              <a:ea typeface="Arial"/>
              <a:cs typeface="Arial"/>
              <a:sym typeface="Arial"/>
            </a:endParaRPr>
          </a:p>
        </p:txBody>
      </p:sp>
      <p:sp>
        <p:nvSpPr>
          <p:cNvPr id="308" name="Google Shape;308;p22"/>
          <p:cNvSpPr txBox="1"/>
          <p:nvPr/>
        </p:nvSpPr>
        <p:spPr>
          <a:xfrm>
            <a:off x="6903720" y="39428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you can name why each disagreement happened, not just report a lucky number</a:t>
            </a:r>
            <a:endParaRPr b="0" i="0" sz="1800" u="none" cap="none" strike="noStrike">
              <a:solidFill>
                <a:schemeClr val="dk1"/>
              </a:solidFill>
              <a:latin typeface="Arial"/>
              <a:ea typeface="Arial"/>
              <a:cs typeface="Arial"/>
              <a:sym typeface="Arial"/>
            </a:endParaRPr>
          </a:p>
        </p:txBody>
      </p:sp>
      <p:sp>
        <p:nvSpPr>
          <p:cNvPr id="309" name="Google Shape;309;p2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Clear these four and you have earned the right to automate</a:t>
            </a:r>
            <a:endParaRPr b="0" i="0" sz="1800" u="none" cap="none" strike="noStrike">
              <a:solidFill>
                <a:schemeClr val="dk1"/>
              </a:solidFill>
              <a:latin typeface="Arial"/>
              <a:ea typeface="Arial"/>
              <a:cs typeface="Arial"/>
              <a:sym typeface="Arial"/>
            </a:endParaRPr>
          </a:p>
        </p:txBody>
      </p:sp>
      <p:sp>
        <p:nvSpPr>
          <p:cNvPr id="310" name="Google Shape;310;p2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Example: why this faithfulness judge is not ready to ship</a:t>
            </a:r>
            <a:endParaRPr sz="2200"/>
          </a:p>
        </p:txBody>
      </p:sp>
      <p:sp>
        <p:nvSpPr>
          <p:cNvPr id="317" name="Google Shape;317;p23"/>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The same 50 human labels, checked against the four requirements</a:t>
            </a:r>
            <a:endParaRPr b="0" i="0" sz="1400" u="none" cap="none" strike="noStrike">
              <a:solidFill>
                <a:schemeClr val="dk1"/>
              </a:solidFill>
              <a:latin typeface="Arial"/>
              <a:ea typeface="Arial"/>
              <a:cs typeface="Arial"/>
              <a:sym typeface="Arial"/>
            </a:endParaRPr>
          </a:p>
        </p:txBody>
      </p:sp>
      <p:graphicFrame>
        <p:nvGraphicFramePr>
          <p:cNvPr id="318" name="Google Shape;318;p23"/>
          <p:cNvGraphicFramePr/>
          <p:nvPr/>
        </p:nvGraphicFramePr>
        <p:xfrm>
          <a:off x="548640" y="1709928"/>
          <a:ext cx="3000000" cy="3000000"/>
        </p:xfrm>
        <a:graphic>
          <a:graphicData uri="http://schemas.openxmlformats.org/drawingml/2006/table">
            <a:tbl>
              <a:tblPr>
                <a:noFill/>
                <a:tableStyleId>{78145D02-F1B9-44E9-A974-5EF9C75A9E38}</a:tableStyleId>
              </a:tblPr>
              <a:tblGrid>
                <a:gridCol w="2011675"/>
                <a:gridCol w="2011675"/>
                <a:gridCol w="1005850"/>
                <a:gridCol w="5029200"/>
                <a:gridCol w="1005850"/>
              </a:tblGrid>
              <a:tr h="768100">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Gate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Target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Result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Why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Verdict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1  Agreement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 85%</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78%</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31 + 8 = 39 of 50 match</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FAIL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2  Cohen’s κ</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 0.60</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0.44</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moderate, not substantial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FAIL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3  False passes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few, each one read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47%</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7 of the 15 real failures (7 + 8) passed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FAIL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4  Explainable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root cause found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accent1"/>
                        </a:buClr>
                        <a:buSzPts val="1600"/>
                        <a:buFont typeface="Arial"/>
                        <a:buNone/>
                      </a:pPr>
                      <a:r>
                        <a:rPr b="1" lang="en-US" sz="1600" u="none" cap="none" strike="noStrike">
                          <a:solidFill>
                            <a:schemeClr val="accent1"/>
                          </a:solidFill>
                        </a:rPr>
                        <a:t>yes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5 of the 7 false passes cite the wrong doc section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accent1"/>
                        </a:buClr>
                        <a:buSzPts val="1600"/>
                        <a:buFont typeface="Arial"/>
                        <a:buNone/>
                      </a:pPr>
                      <a:r>
                        <a:rPr b="1" lang="en-US" sz="1600" u="none" cap="none" strike="noStrike">
                          <a:solidFill>
                            <a:schemeClr val="accent1"/>
                          </a:solidFill>
                        </a:rPr>
                        <a:t>PASS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319" name="Google Shape;319;p2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800"/>
              <a:buFont typeface="Arial"/>
              <a:buNone/>
            </a:pPr>
            <a:r>
              <a:rPr b="1" i="0" lang="en-US" sz="1800" u="none" cap="none" strike="noStrike">
                <a:solidFill>
                  <a:schemeClr val="accent3"/>
                </a:solidFill>
                <a:latin typeface="Arial"/>
                <a:ea typeface="Arial"/>
                <a:cs typeface="Arial"/>
                <a:sym typeface="Arial"/>
              </a:rPr>
              <a:t>Not ready. </a:t>
            </a:r>
            <a:r>
              <a:rPr b="0" i="0" lang="en-US" sz="1800" u="none" cap="none" strike="noStrike">
                <a:solidFill>
                  <a:schemeClr val="dk1"/>
                </a:solidFill>
                <a:latin typeface="Arial"/>
                <a:ea typeface="Arial"/>
                <a:cs typeface="Arial"/>
                <a:sym typeface="Arial"/>
              </a:rPr>
              <a:t>Gate 4 points to the fix: a boundary rule on the cited section</a:t>
            </a:r>
            <a:endParaRPr b="0" i="0" sz="1800" u="none" cap="none" strike="noStrike">
              <a:solidFill>
                <a:schemeClr val="dk1"/>
              </a:solidFill>
              <a:latin typeface="Arial"/>
              <a:ea typeface="Arial"/>
              <a:cs typeface="Arial"/>
              <a:sym typeface="Arial"/>
            </a:endParaRPr>
          </a:p>
        </p:txBody>
      </p:sp>
      <p:sp>
        <p:nvSpPr>
          <p:cNvPr id="320" name="Google Shape;320;p2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321" name="Google Shape;321;p2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4</a:t>
            </a:r>
            <a:endParaRPr b="0" i="0" sz="1200" u="none" cap="none" strike="noStrike">
              <a:solidFill>
                <a:schemeClr val="dk1"/>
              </a:solidFill>
              <a:latin typeface="Arial"/>
              <a:ea typeface="Arial"/>
              <a:cs typeface="Arial"/>
              <a:sym typeface="Arial"/>
            </a:endParaRPr>
          </a:p>
        </p:txBody>
      </p:sp>
      <p:sp>
        <p:nvSpPr>
          <p:cNvPr id="329" name="Google Shape;329;p2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Beyond single answers: multi-turn, tool calls, A/B</a:t>
            </a:r>
            <a:endParaRPr sz="3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A conversation can fail even when every individual turn passes</a:t>
            </a:r>
            <a:endParaRPr sz="2200"/>
          </a:p>
        </p:txBody>
      </p:sp>
      <p:pic>
        <p:nvPicPr>
          <p:cNvPr descr="A conversation of four agent turns. Turn 1 answers pricing, turn 2 explains features, turn 3 repeats pricing because it forgot turn 1, turn 4 contradicts turn 2. Each turn passes its own check, yet the conversation verdict is FAIL. Forgetting and self-contradiction link turns to each other, so they are invisible to any single turn." id="336" name="Google Shape;336;p25"/>
          <p:cNvPicPr preferRelativeResize="0"/>
          <p:nvPr/>
        </p:nvPicPr>
        <p:blipFill rotWithShape="1">
          <a:blip r:embed="rId3">
            <a:alphaModFix/>
          </a:blip>
          <a:srcRect b="0" l="0" r="0" t="0"/>
          <a:stretch/>
        </p:blipFill>
        <p:spPr>
          <a:xfrm>
            <a:off x="548640" y="1252728"/>
            <a:ext cx="7223760" cy="4572000"/>
          </a:xfrm>
          <a:prstGeom prst="rect">
            <a:avLst/>
          </a:prstGeom>
          <a:noFill/>
          <a:ln>
            <a:noFill/>
          </a:ln>
        </p:spPr>
      </p:pic>
      <p:sp>
        <p:nvSpPr>
          <p:cNvPr id="337" name="Google Shape;337;p25"/>
          <p:cNvSpPr txBox="1"/>
          <p:nvPr/>
        </p:nvSpPr>
        <p:spPr>
          <a:xfrm>
            <a:off x="8138160" y="1801368"/>
            <a:ext cx="3474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Conversation-level checks</a:t>
            </a:r>
            <a:endParaRPr b="0" i="0" sz="1800" u="none" cap="none" strike="noStrike">
              <a:solidFill>
                <a:schemeClr val="dk1"/>
              </a:solidFill>
              <a:latin typeface="Arial"/>
              <a:ea typeface="Arial"/>
              <a:cs typeface="Arial"/>
              <a:sym typeface="Arial"/>
            </a:endParaRPr>
          </a:p>
        </p:txBody>
      </p:sp>
      <p:sp>
        <p:nvSpPr>
          <p:cNvPr id="338" name="Google Shape;338;p25"/>
          <p:cNvSpPr txBox="1"/>
          <p:nvPr/>
        </p:nvSpPr>
        <p:spPr>
          <a:xfrm>
            <a:off x="8138160" y="2350008"/>
            <a:ext cx="347472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Context retention: </a:t>
            </a:r>
            <a:r>
              <a:rPr b="0" i="0" lang="en-US" sz="1800" u="none" cap="none" strike="noStrike">
                <a:solidFill>
                  <a:schemeClr val="dk1"/>
                </a:solidFill>
                <a:latin typeface="Arial"/>
                <a:ea typeface="Arial"/>
                <a:cs typeface="Arial"/>
                <a:sym typeface="Arial"/>
              </a:rPr>
              <a:t>does turn N remember turns 1 to N-1?</a:t>
            </a:r>
            <a:endParaRPr b="0" i="0" sz="1800" u="none" cap="none" strike="noStrike">
              <a:solidFill>
                <a:schemeClr val="dk1"/>
              </a:solidFill>
              <a:latin typeface="Arial"/>
              <a:ea typeface="Arial"/>
              <a:cs typeface="Arial"/>
              <a:sym typeface="Arial"/>
            </a:endParaRPr>
          </a:p>
          <a:p>
            <a:pPr indent="0" lvl="0" marL="0" marR="0" rtl="0" algn="l">
              <a:spcBef>
                <a:spcPts val="14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State accuracy: </a:t>
            </a:r>
            <a:r>
              <a:rPr b="0" i="0" lang="en-US" sz="1800" u="none" cap="none" strike="noStrike">
                <a:solidFill>
                  <a:schemeClr val="dk1"/>
                </a:solidFill>
                <a:latin typeface="Arial"/>
                <a:ea typeface="Arial"/>
                <a:cs typeface="Arial"/>
                <a:sym typeface="Arial"/>
              </a:rPr>
              <a:t>is the tracked state right (cart, preferences)?</a:t>
            </a:r>
            <a:endParaRPr b="0" i="0" sz="1800" u="none" cap="none" strike="noStrike">
              <a:solidFill>
                <a:schemeClr val="dk1"/>
              </a:solidFill>
              <a:latin typeface="Arial"/>
              <a:ea typeface="Arial"/>
              <a:cs typeface="Arial"/>
              <a:sym typeface="Arial"/>
            </a:endParaRPr>
          </a:p>
          <a:p>
            <a:pPr indent="0" lvl="0" marL="0" marR="0" rtl="0" algn="l">
              <a:spcBef>
                <a:spcPts val="14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Coherence: </a:t>
            </a:r>
            <a:r>
              <a:rPr b="0" i="0" lang="en-US" sz="1800" u="none" cap="none" strike="noStrike">
                <a:solidFill>
                  <a:schemeClr val="dk1"/>
                </a:solidFill>
                <a:latin typeface="Arial"/>
                <a:ea typeface="Arial"/>
                <a:cs typeface="Arial"/>
                <a:sym typeface="Arial"/>
              </a:rPr>
              <a:t>no contradictions across the session?</a:t>
            </a:r>
            <a:endParaRPr b="0" i="0" sz="1800" u="none" cap="none" strike="noStrike">
              <a:solidFill>
                <a:schemeClr val="dk1"/>
              </a:solidFill>
              <a:latin typeface="Arial"/>
              <a:ea typeface="Arial"/>
              <a:cs typeface="Arial"/>
              <a:sym typeface="Arial"/>
            </a:endParaRPr>
          </a:p>
        </p:txBody>
      </p:sp>
      <p:sp>
        <p:nvSpPr>
          <p:cNvPr id="339" name="Google Shape;339;p2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Evaluate tool calls in three layers: schema, arguments, semantics</a:t>
            </a:r>
            <a:endParaRPr sz="2200"/>
          </a:p>
        </p:txBody>
      </p:sp>
      <p:pic>
        <p:nvPicPr>
          <p:cNvPr descr="The user asked: is order 1234 eligible for a refund? The agent answered with a tool call: issue_refund for order 1234, amount 42.50, reason defective. Three layers check the call. Layer 1, schema, code-based: valid JSON, fields and types, PASS. Layer 2, arguments: args match the request, the order ID matches, PASS. Layer 3, semantics, LLM judge: is this the right action in context? FAIL, it catches that the user asked a question and got a refund." id="346" name="Google Shape;346;p26"/>
          <p:cNvPicPr preferRelativeResize="0"/>
          <p:nvPr/>
        </p:nvPicPr>
        <p:blipFill rotWithShape="1">
          <a:blip r:embed="rId3">
            <a:alphaModFix/>
          </a:blip>
          <a:srcRect b="0" l="0" r="0" t="0"/>
          <a:stretch/>
        </p:blipFill>
        <p:spPr>
          <a:xfrm>
            <a:off x="612648" y="1298448"/>
            <a:ext cx="10972800" cy="4206240"/>
          </a:xfrm>
          <a:prstGeom prst="rect">
            <a:avLst/>
          </a:prstGeom>
          <a:noFill/>
          <a:ln>
            <a:noFill/>
          </a:ln>
        </p:spPr>
      </p:pic>
      <p:sp>
        <p:nvSpPr>
          <p:cNvPr id="347" name="Google Shape;347;p2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Valid JSON and a matching order ID: only layer 3 sees a question, not a refund request</a:t>
            </a:r>
            <a:endParaRPr b="0" i="0" sz="1800" u="none" cap="none" strike="noStrike">
              <a:solidFill>
                <a:schemeClr val="dk1"/>
              </a:solidFill>
              <a:latin typeface="Arial"/>
              <a:ea typeface="Arial"/>
              <a:cs typeface="Arial"/>
              <a:sym typeface="Arial"/>
            </a:endParaRPr>
          </a:p>
        </p:txBody>
      </p:sp>
      <p:sp>
        <p:nvSpPr>
          <p:cNvPr id="348" name="Google Shape;348;p2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Use A/B evaluation to decide whether a prompt change is better</a:t>
            </a:r>
            <a:endParaRPr sz="2200"/>
          </a:p>
        </p:txBody>
      </p:sp>
      <p:sp>
        <p:nvSpPr>
          <p:cNvPr id="355" name="Google Shape;355;p27"/>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“I changed the prompt. Did it get better?”</a:t>
            </a:r>
            <a:endParaRPr b="0" i="0" sz="1400" u="none" cap="none" strike="noStrike">
              <a:solidFill>
                <a:schemeClr val="dk1"/>
              </a:solidFill>
              <a:latin typeface="Arial"/>
              <a:ea typeface="Arial"/>
              <a:cs typeface="Arial"/>
              <a:sym typeface="Arial"/>
            </a:endParaRPr>
          </a:p>
        </p:txBody>
      </p:sp>
      <p:sp>
        <p:nvSpPr>
          <p:cNvPr id="356" name="Google Shape;356;p27"/>
          <p:cNvSpPr txBox="1"/>
          <p:nvPr/>
        </p:nvSpPr>
        <p:spPr>
          <a:xfrm>
            <a:off x="548640" y="1984248"/>
            <a:ext cx="356616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Change one thing at a time: </a:t>
            </a:r>
            <a:r>
              <a:rPr b="0" i="0" lang="en-US" sz="1800" u="none" cap="none" strike="noStrike">
                <a:solidFill>
                  <a:schemeClr val="dk1"/>
                </a:solidFill>
                <a:latin typeface="Arial"/>
                <a:ea typeface="Arial"/>
                <a:cs typeface="Arial"/>
                <a:sym typeface="Arial"/>
              </a:rPr>
              <a:t>prompt and model together teach you nothing</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Run the full suite: </a:t>
            </a:r>
            <a:r>
              <a:rPr b="0" i="0" lang="en-US" sz="1800" u="none" cap="none" strike="noStrike">
                <a:solidFill>
                  <a:schemeClr val="dk1"/>
                </a:solidFill>
                <a:latin typeface="Arial"/>
                <a:ea typeface="Arial"/>
                <a:cs typeface="Arial"/>
                <a:sym typeface="Arial"/>
              </a:rPr>
              <a:t>never eyeball a handful of examples</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Read per-metric deltas: </a:t>
            </a:r>
            <a:r>
              <a:rPr b="0" i="0" lang="en-US" sz="1800" u="none" cap="none" strike="noStrike">
                <a:solidFill>
                  <a:schemeClr val="dk1"/>
                </a:solidFill>
                <a:latin typeface="Arial"/>
                <a:ea typeface="Arial"/>
                <a:cs typeface="Arial"/>
                <a:sym typeface="Arial"/>
              </a:rPr>
              <a:t>B can win on faithfulness and lose on completeness</a:t>
            </a:r>
            <a:endParaRPr b="0" i="0" sz="1800" u="none" cap="none" strike="noStrike">
              <a:solidFill>
                <a:schemeClr val="dk1"/>
              </a:solidFill>
              <a:latin typeface="Arial"/>
              <a:ea typeface="Arial"/>
              <a:cs typeface="Arial"/>
              <a:sym typeface="Arial"/>
            </a:endParaRPr>
          </a:p>
        </p:txBody>
      </p:sp>
      <p:pic>
        <p:nvPicPr>
          <p:cNvPr descr="The same cases go to version A, the current prompt, and to version B, which has one change only. The same judges score both. The results are compared per metric: here faithfulness goes up, completeness goes down, tone goes up. Then the decision: ship or not." id="357" name="Google Shape;357;p27"/>
          <p:cNvPicPr preferRelativeResize="0"/>
          <p:nvPr/>
        </p:nvPicPr>
        <p:blipFill rotWithShape="1">
          <a:blip r:embed="rId3">
            <a:alphaModFix/>
          </a:blip>
          <a:srcRect b="0" l="0" r="0" t="0"/>
          <a:stretch/>
        </p:blipFill>
        <p:spPr>
          <a:xfrm>
            <a:off x="4389120" y="1572768"/>
            <a:ext cx="7223760" cy="4206240"/>
          </a:xfrm>
          <a:prstGeom prst="rect">
            <a:avLst/>
          </a:prstGeom>
          <a:noFill/>
          <a:ln>
            <a:noFill/>
          </a:ln>
        </p:spPr>
      </p:pic>
      <p:sp>
        <p:nvSpPr>
          <p:cNvPr id="358" name="Google Shape;358;p27"/>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offline A/B: same cases, two versions (not a live traffic test)</a:t>
            </a:r>
            <a:endParaRPr b="0" i="0" sz="1100" u="none" cap="none" strike="noStrike">
              <a:solidFill>
                <a:schemeClr val="dk1"/>
              </a:solidFill>
              <a:latin typeface="Arial"/>
              <a:ea typeface="Arial"/>
              <a:cs typeface="Arial"/>
              <a:sym typeface="Arial"/>
            </a:endParaRPr>
          </a:p>
        </p:txBody>
      </p:sp>
      <p:sp>
        <p:nvSpPr>
          <p:cNvPr id="359" name="Google Shape;359;p2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5</a:t>
            </a:r>
            <a:endParaRPr b="0" i="0" sz="1200" u="none" cap="none" strike="noStrike">
              <a:solidFill>
                <a:schemeClr val="dk1"/>
              </a:solidFill>
              <a:latin typeface="Arial"/>
              <a:ea typeface="Arial"/>
              <a:cs typeface="Arial"/>
              <a:sym typeface="Arial"/>
            </a:endParaRPr>
          </a:p>
        </p:txBody>
      </p:sp>
      <p:sp>
        <p:nvSpPr>
          <p:cNvPr id="367" name="Google Shape;367;p2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Live build: a faithfulness judge, validated</a:t>
            </a:r>
            <a:endParaRPr sz="3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A naive faithfulness judge scores 4.2 out of 5: what is wrong with it?</a:t>
            </a:r>
            <a:endParaRPr sz="2200"/>
          </a:p>
        </p:txBody>
      </p:sp>
      <p:sp>
        <p:nvSpPr>
          <p:cNvPr id="374" name="Google Shape;374;p29"/>
          <p:cNvSpPr/>
          <p:nvPr/>
        </p:nvSpPr>
        <p:spPr>
          <a:xfrm>
            <a:off x="548640" y="2468880"/>
            <a:ext cx="6400800" cy="2168144"/>
          </a:xfrm>
          <a:prstGeom prst="roundRect">
            <a:avLst>
              <a:gd fmla="val 421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9"/>
          <p:cNvSpPr txBox="1"/>
          <p:nvPr/>
        </p:nvSpPr>
        <p:spPr>
          <a:xfrm>
            <a:off x="804672" y="2596896"/>
            <a:ext cx="588873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b="0" i="0" lang="en-US" sz="1100" u="none" cap="none" strike="noStrike">
                <a:solidFill>
                  <a:srgbClr val="94A3B8"/>
                </a:solidFill>
                <a:latin typeface="Consolas"/>
                <a:ea typeface="Consolas"/>
                <a:cs typeface="Consolas"/>
                <a:sym typeface="Consolas"/>
              </a:rPr>
              <a:t>judge prompt · naive</a:t>
            </a:r>
            <a:endParaRPr b="0" i="0" sz="1100" u="none" cap="none" strike="noStrike">
              <a:solidFill>
                <a:schemeClr val="dk1"/>
              </a:solidFill>
              <a:latin typeface="Arial"/>
              <a:ea typeface="Arial"/>
              <a:cs typeface="Arial"/>
              <a:sym typeface="Arial"/>
            </a:endParaRPr>
          </a:p>
        </p:txBody>
      </p:sp>
      <p:sp>
        <p:nvSpPr>
          <p:cNvPr id="376" name="Google Shape;376;p29"/>
          <p:cNvSpPr txBox="1"/>
          <p:nvPr/>
        </p:nvSpPr>
        <p:spPr>
          <a:xfrm>
            <a:off x="804672" y="2944368"/>
            <a:ext cx="5888736" cy="15189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Rate how faithful this answer is to</a:t>
            </a:r>
            <a:endParaRPr b="0" i="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the retrieved docs on a scale of 1-5.</a:t>
            </a:r>
            <a:endParaRPr b="0" i="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Consider accuracy and completeness.</a:t>
            </a:r>
            <a:endParaRPr b="0" i="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Return a number.</a:t>
            </a:r>
            <a:endParaRPr b="0" i="0" sz="2000" u="none" cap="none" strike="noStrike">
              <a:solidFill>
                <a:schemeClr val="dk1"/>
              </a:solidFill>
              <a:latin typeface="Arial"/>
              <a:ea typeface="Arial"/>
              <a:cs typeface="Arial"/>
              <a:sym typeface="Arial"/>
            </a:endParaRPr>
          </a:p>
        </p:txBody>
      </p:sp>
      <p:sp>
        <p:nvSpPr>
          <p:cNvPr id="377" name="Google Shape;377;p29"/>
          <p:cNvSpPr txBox="1"/>
          <p:nvPr/>
        </p:nvSpPr>
        <p:spPr>
          <a:xfrm>
            <a:off x="7680960" y="2606040"/>
            <a:ext cx="39319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6600"/>
              <a:buFont typeface="Arial"/>
              <a:buNone/>
            </a:pPr>
            <a:r>
              <a:rPr b="1" i="0" lang="en-US" sz="6600" u="none" cap="none" strike="noStrike">
                <a:solidFill>
                  <a:schemeClr val="accent1"/>
                </a:solidFill>
                <a:latin typeface="Arial"/>
                <a:ea typeface="Arial"/>
                <a:cs typeface="Arial"/>
                <a:sym typeface="Arial"/>
              </a:rPr>
              <a:t>4.2 / 5</a:t>
            </a:r>
            <a:endParaRPr b="0" i="0" sz="6600" u="none" cap="none" strike="noStrike">
              <a:solidFill>
                <a:schemeClr val="dk1"/>
              </a:solidFill>
              <a:latin typeface="Arial"/>
              <a:ea typeface="Arial"/>
              <a:cs typeface="Arial"/>
              <a:sym typeface="Arial"/>
            </a:endParaRPr>
          </a:p>
        </p:txBody>
      </p:sp>
      <p:sp>
        <p:nvSpPr>
          <p:cNvPr id="378" name="Google Shape;378;p29"/>
          <p:cNvSpPr txBox="1"/>
          <p:nvPr/>
        </p:nvSpPr>
        <p:spPr>
          <a:xfrm>
            <a:off x="7680960" y="3657600"/>
            <a:ext cx="39319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average score</a:t>
            </a:r>
            <a:endParaRPr b="0" i="0" sz="1800" u="none" cap="none" strike="noStrike">
              <a:solidFill>
                <a:schemeClr val="dk1"/>
              </a:solidFill>
              <a:latin typeface="Arial"/>
              <a:ea typeface="Arial"/>
              <a:cs typeface="Arial"/>
              <a:sym typeface="Arial"/>
            </a:endParaRPr>
          </a:p>
        </p:txBody>
      </p:sp>
      <p:sp>
        <p:nvSpPr>
          <p:cNvPr id="379" name="Google Shape;379;p29"/>
          <p:cNvSpPr txBox="1"/>
          <p:nvPr/>
        </p:nvSpPr>
        <p:spPr>
          <a:xfrm>
            <a:off x="7680960" y="4206240"/>
            <a:ext cx="39319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0" i="1" lang="en-US" sz="2200" u="none" cap="none" strike="noStrike">
                <a:solidFill>
                  <a:schemeClr val="accent1"/>
                </a:solidFill>
                <a:latin typeface="Arial"/>
                <a:ea typeface="Arial"/>
                <a:cs typeface="Arial"/>
                <a:sym typeface="Arial"/>
              </a:rPr>
              <a:t>“Looks great, ship it”</a:t>
            </a:r>
            <a:endParaRPr b="0" i="0" sz="2200" u="none" cap="none" strike="noStrike">
              <a:solidFill>
                <a:schemeClr val="dk1"/>
              </a:solidFill>
              <a:latin typeface="Arial"/>
              <a:ea typeface="Arial"/>
              <a:cs typeface="Arial"/>
              <a:sym typeface="Arial"/>
            </a:endParaRPr>
          </a:p>
        </p:txBody>
      </p:sp>
      <p:sp>
        <p:nvSpPr>
          <p:cNvPr id="380" name="Google Shape;380;p29"/>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381" name="Google Shape;381;p2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Why a 1-5 faithfulness judge produces misleading results</a:t>
            </a:r>
            <a:endParaRPr sz="2200"/>
          </a:p>
        </p:txBody>
      </p:sp>
      <p:pic>
        <p:nvPicPr>
          <p:cNvPr descr="cross" id="388" name="Google Shape;388;p30"/>
          <p:cNvPicPr preferRelativeResize="0"/>
          <p:nvPr/>
        </p:nvPicPr>
        <p:blipFill rotWithShape="1">
          <a:blip r:embed="rId3">
            <a:alphaModFix/>
          </a:blip>
          <a:srcRect b="0" l="0" r="0" t="0"/>
          <a:stretch/>
        </p:blipFill>
        <p:spPr>
          <a:xfrm>
            <a:off x="822960" y="1993392"/>
            <a:ext cx="256032" cy="256032"/>
          </a:xfrm>
          <a:prstGeom prst="rect">
            <a:avLst/>
          </a:prstGeom>
          <a:noFill/>
          <a:ln>
            <a:noFill/>
          </a:ln>
        </p:spPr>
      </p:pic>
      <p:sp>
        <p:nvSpPr>
          <p:cNvPr id="389" name="Google Shape;389;p30"/>
          <p:cNvSpPr txBox="1"/>
          <p:nvPr/>
        </p:nvSpPr>
        <p:spPr>
          <a:xfrm>
            <a:off x="1280160" y="161848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Likert scale</a:t>
            </a:r>
            <a:endParaRPr b="0" i="0" sz="2200" u="none" cap="none" strike="noStrike">
              <a:solidFill>
                <a:schemeClr val="dk1"/>
              </a:solidFill>
              <a:latin typeface="Arial"/>
              <a:ea typeface="Arial"/>
              <a:cs typeface="Arial"/>
              <a:sym typeface="Arial"/>
            </a:endParaRPr>
          </a:p>
        </p:txBody>
      </p:sp>
      <p:sp>
        <p:nvSpPr>
          <p:cNvPr id="390" name="Google Shape;390;p30"/>
          <p:cNvSpPr txBox="1"/>
          <p:nvPr/>
        </p:nvSpPr>
        <p:spPr>
          <a:xfrm>
            <a:off x="6446520" y="161848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scores cluster at 4-5 and mean little</a:t>
            </a:r>
            <a:endParaRPr b="0" i="0" sz="1800" u="none" cap="none" strike="noStrike">
              <a:solidFill>
                <a:schemeClr val="dk1"/>
              </a:solidFill>
              <a:latin typeface="Arial"/>
              <a:ea typeface="Arial"/>
              <a:cs typeface="Arial"/>
              <a:sym typeface="Arial"/>
            </a:endParaRPr>
          </a:p>
        </p:txBody>
      </p:sp>
      <p:cxnSp>
        <p:nvCxnSpPr>
          <p:cNvPr id="391" name="Google Shape;391;p30"/>
          <p:cNvCxnSpPr/>
          <p:nvPr/>
        </p:nvCxnSpPr>
        <p:spPr>
          <a:xfrm>
            <a:off x="822960" y="262432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392" name="Google Shape;392;p30"/>
          <p:cNvPicPr preferRelativeResize="0"/>
          <p:nvPr/>
        </p:nvPicPr>
        <p:blipFill rotWithShape="1">
          <a:blip r:embed="rId3">
            <a:alphaModFix/>
          </a:blip>
          <a:srcRect b="0" l="0" r="0" t="0"/>
          <a:stretch/>
        </p:blipFill>
        <p:spPr>
          <a:xfrm>
            <a:off x="822960" y="2999232"/>
            <a:ext cx="256032" cy="256032"/>
          </a:xfrm>
          <a:prstGeom prst="rect">
            <a:avLst/>
          </a:prstGeom>
          <a:noFill/>
          <a:ln>
            <a:noFill/>
          </a:ln>
        </p:spPr>
      </p:pic>
      <p:sp>
        <p:nvSpPr>
          <p:cNvPr id="393" name="Google Shape;393;p30"/>
          <p:cNvSpPr txBox="1"/>
          <p:nvPr/>
        </p:nvSpPr>
        <p:spPr>
          <a:xfrm>
            <a:off x="1280160" y="262432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Two criteria in one judge</a:t>
            </a:r>
            <a:endParaRPr b="0" i="0" sz="2200" u="none" cap="none" strike="noStrike">
              <a:solidFill>
                <a:schemeClr val="dk1"/>
              </a:solidFill>
              <a:latin typeface="Arial"/>
              <a:ea typeface="Arial"/>
              <a:cs typeface="Arial"/>
              <a:sym typeface="Arial"/>
            </a:endParaRPr>
          </a:p>
        </p:txBody>
      </p:sp>
      <p:sp>
        <p:nvSpPr>
          <p:cNvPr id="394" name="Google Shape;394;p30"/>
          <p:cNvSpPr txBox="1"/>
          <p:nvPr/>
        </p:nvSpPr>
        <p:spPr>
          <a:xfrm>
            <a:off x="6446520" y="262432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accuracy AND completeness: which failed?</a:t>
            </a:r>
            <a:endParaRPr b="0" i="0" sz="1800" u="none" cap="none" strike="noStrike">
              <a:solidFill>
                <a:schemeClr val="dk1"/>
              </a:solidFill>
              <a:latin typeface="Arial"/>
              <a:ea typeface="Arial"/>
              <a:cs typeface="Arial"/>
              <a:sym typeface="Arial"/>
            </a:endParaRPr>
          </a:p>
        </p:txBody>
      </p:sp>
      <p:cxnSp>
        <p:nvCxnSpPr>
          <p:cNvPr id="395" name="Google Shape;395;p30"/>
          <p:cNvCxnSpPr/>
          <p:nvPr/>
        </p:nvCxnSpPr>
        <p:spPr>
          <a:xfrm>
            <a:off x="822960" y="363016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396" name="Google Shape;396;p30"/>
          <p:cNvPicPr preferRelativeResize="0"/>
          <p:nvPr/>
        </p:nvPicPr>
        <p:blipFill rotWithShape="1">
          <a:blip r:embed="rId3">
            <a:alphaModFix/>
          </a:blip>
          <a:srcRect b="0" l="0" r="0" t="0"/>
          <a:stretch/>
        </p:blipFill>
        <p:spPr>
          <a:xfrm>
            <a:off x="822960" y="4005072"/>
            <a:ext cx="256032" cy="256032"/>
          </a:xfrm>
          <a:prstGeom prst="rect">
            <a:avLst/>
          </a:prstGeom>
          <a:noFill/>
          <a:ln>
            <a:noFill/>
          </a:ln>
        </p:spPr>
      </p:pic>
      <p:sp>
        <p:nvSpPr>
          <p:cNvPr id="397" name="Google Shape;397;p30"/>
          <p:cNvSpPr txBox="1"/>
          <p:nvPr/>
        </p:nvSpPr>
        <p:spPr>
          <a:xfrm>
            <a:off x="1280160" y="363016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No concrete pass/fail standard</a:t>
            </a:r>
            <a:endParaRPr b="0" i="0" sz="2200" u="none" cap="none" strike="noStrike">
              <a:solidFill>
                <a:schemeClr val="dk1"/>
              </a:solidFill>
              <a:latin typeface="Arial"/>
              <a:ea typeface="Arial"/>
              <a:cs typeface="Arial"/>
              <a:sym typeface="Arial"/>
            </a:endParaRPr>
          </a:p>
        </p:txBody>
      </p:sp>
      <p:sp>
        <p:nvSpPr>
          <p:cNvPr id="398" name="Google Shape;398;p30"/>
          <p:cNvSpPr txBox="1"/>
          <p:nvPr/>
        </p:nvSpPr>
        <p:spPr>
          <a:xfrm>
            <a:off x="6446520" y="363016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nothing says what passing actually is</a:t>
            </a:r>
            <a:endParaRPr b="0" i="0" sz="1800" u="none" cap="none" strike="noStrike">
              <a:solidFill>
                <a:schemeClr val="dk1"/>
              </a:solidFill>
              <a:latin typeface="Arial"/>
              <a:ea typeface="Arial"/>
              <a:cs typeface="Arial"/>
              <a:sym typeface="Arial"/>
            </a:endParaRPr>
          </a:p>
        </p:txBody>
      </p:sp>
      <p:cxnSp>
        <p:nvCxnSpPr>
          <p:cNvPr id="399" name="Google Shape;399;p30"/>
          <p:cNvCxnSpPr/>
          <p:nvPr/>
        </p:nvCxnSpPr>
        <p:spPr>
          <a:xfrm>
            <a:off x="822960" y="463600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00" name="Google Shape;400;p30"/>
          <p:cNvPicPr preferRelativeResize="0"/>
          <p:nvPr/>
        </p:nvPicPr>
        <p:blipFill rotWithShape="1">
          <a:blip r:embed="rId3">
            <a:alphaModFix/>
          </a:blip>
          <a:srcRect b="0" l="0" r="0" t="0"/>
          <a:stretch/>
        </p:blipFill>
        <p:spPr>
          <a:xfrm>
            <a:off x="822960" y="5010912"/>
            <a:ext cx="256032" cy="256032"/>
          </a:xfrm>
          <a:prstGeom prst="rect">
            <a:avLst/>
          </a:prstGeom>
          <a:noFill/>
          <a:ln>
            <a:noFill/>
          </a:ln>
        </p:spPr>
      </p:pic>
      <p:sp>
        <p:nvSpPr>
          <p:cNvPr id="401" name="Google Shape;401;p30"/>
          <p:cNvSpPr txBox="1"/>
          <p:nvPr/>
        </p:nvSpPr>
        <p:spPr>
          <a:xfrm>
            <a:off x="1280160" y="463600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No boundary examples</a:t>
            </a:r>
            <a:endParaRPr b="0" i="0" sz="2200" u="none" cap="none" strike="noStrike">
              <a:solidFill>
                <a:schemeClr val="dk1"/>
              </a:solidFill>
              <a:latin typeface="Arial"/>
              <a:ea typeface="Arial"/>
              <a:cs typeface="Arial"/>
              <a:sym typeface="Arial"/>
            </a:endParaRPr>
          </a:p>
        </p:txBody>
      </p:sp>
      <p:sp>
        <p:nvSpPr>
          <p:cNvPr id="402" name="Google Shape;402;p30"/>
          <p:cNvSpPr txBox="1"/>
          <p:nvPr/>
        </p:nvSpPr>
        <p:spPr>
          <a:xfrm>
            <a:off x="6446520" y="463600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every ambiguous case is a coin flip</a:t>
            </a:r>
            <a:endParaRPr b="0" i="0" sz="1800" u="none" cap="none" strike="noStrike">
              <a:solidFill>
                <a:schemeClr val="dk1"/>
              </a:solidFill>
              <a:latin typeface="Arial"/>
              <a:ea typeface="Arial"/>
              <a:cs typeface="Arial"/>
              <a:sym typeface="Arial"/>
            </a:endParaRPr>
          </a:p>
        </p:txBody>
      </p:sp>
      <p:sp>
        <p:nvSpPr>
          <p:cNvPr id="403" name="Google Shape;403;p3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Rewrite the judge as a binary rubric, then test it with human labels</a:t>
            </a:r>
            <a:endParaRPr sz="2200"/>
          </a:p>
        </p:txBody>
      </p:sp>
      <p:sp>
        <p:nvSpPr>
          <p:cNvPr id="410" name="Google Shape;410;p31"/>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A new judge and a new labeled set of 40</a:t>
            </a:r>
            <a:endParaRPr b="0" i="0" sz="1400" u="none" cap="none" strike="noStrike">
              <a:solidFill>
                <a:schemeClr val="dk1"/>
              </a:solidFill>
              <a:latin typeface="Arial"/>
              <a:ea typeface="Arial"/>
              <a:cs typeface="Arial"/>
              <a:sym typeface="Arial"/>
            </a:endParaRPr>
          </a:p>
        </p:txBody>
      </p:sp>
      <p:sp>
        <p:nvSpPr>
          <p:cNvPr id="411" name="Google Shape;411;p31"/>
          <p:cNvSpPr/>
          <p:nvPr/>
        </p:nvSpPr>
        <p:spPr>
          <a:xfrm>
            <a:off x="548640" y="1664208"/>
            <a:ext cx="6675120" cy="3742944"/>
          </a:xfrm>
          <a:prstGeom prst="roundRect">
            <a:avLst>
              <a:gd fmla="val 244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1"/>
          <p:cNvSpPr txBox="1"/>
          <p:nvPr/>
        </p:nvSpPr>
        <p:spPr>
          <a:xfrm>
            <a:off x="804672" y="1792224"/>
            <a:ext cx="616305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b="0" i="0" lang="en-US" sz="1100" u="none" cap="none" strike="noStrike">
                <a:solidFill>
                  <a:srgbClr val="94A3B8"/>
                </a:solidFill>
                <a:latin typeface="Consolas"/>
                <a:ea typeface="Consolas"/>
                <a:cs typeface="Consolas"/>
                <a:sym typeface="Consolas"/>
              </a:rPr>
              <a:t>judge prompt · v2</a:t>
            </a:r>
            <a:endParaRPr b="0" i="0" sz="1100" u="none" cap="none" strike="noStrike">
              <a:solidFill>
                <a:schemeClr val="dk1"/>
              </a:solidFill>
              <a:latin typeface="Arial"/>
              <a:ea typeface="Arial"/>
              <a:cs typeface="Arial"/>
              <a:sym typeface="Arial"/>
            </a:endParaRPr>
          </a:p>
        </p:txBody>
      </p:sp>
      <p:sp>
        <p:nvSpPr>
          <p:cNvPr id="413" name="Google Shape;413;p31"/>
          <p:cNvSpPr txBox="1"/>
          <p:nvPr/>
        </p:nvSpPr>
        <p:spPr>
          <a:xfrm>
            <a:off x="804672" y="2139696"/>
            <a:ext cx="6163056" cy="3093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ROLE:    You audit a support answer against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its retrieved policy docs.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Q:       Is EVERY factual claim supported by</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the retrieved docs?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z="1400" u="none" cap="none" strike="noStrike">
                <a:solidFill>
                  <a:srgbClr val="FCA5A5"/>
                </a:solidFill>
                <a:latin typeface="Consolas"/>
                <a:ea typeface="Consolas"/>
                <a:cs typeface="Consolas"/>
                <a:sym typeface="Consolas"/>
              </a:rPr>
              <a:t>FAIL if: any claim is unsupported, OR it cites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z="1400" u="none" cap="none" strike="noStrike">
                <a:solidFill>
                  <a:srgbClr val="FCA5A5"/>
                </a:solidFill>
                <a:latin typeface="Consolas"/>
                <a:ea typeface="Consolas"/>
                <a:cs typeface="Consolas"/>
                <a:sym typeface="Consolas"/>
              </a:rPr>
              <a:t>         a doc section not in context.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z="1400" u="none" cap="none" strike="noStrike">
                <a:solidFill>
                  <a:srgbClr val="86EFAC"/>
                </a:solidFill>
                <a:latin typeface="Consolas"/>
                <a:ea typeface="Consolas"/>
                <a:cs typeface="Consolas"/>
                <a:sym typeface="Consolas"/>
              </a:rPr>
              <a:t>PASS if: fully grounded; minor phrasing</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z="1400" u="none" cap="none" strike="noStrike">
                <a:solidFill>
                  <a:srgbClr val="86EFAC"/>
                </a:solidFill>
                <a:latin typeface="Consolas"/>
                <a:ea typeface="Consolas"/>
                <a:cs typeface="Consolas"/>
                <a:sym typeface="Consolas"/>
              </a:rPr>
              <a:t>         differences are fine.</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OUTPUT:  One sentence of reasoning, then PASS or FAIL.</a:t>
            </a:r>
            <a:endParaRPr b="0" i="0" sz="1400" u="none" cap="none" strike="noStrike">
              <a:solidFill>
                <a:schemeClr val="dk1"/>
              </a:solidFill>
              <a:latin typeface="Arial"/>
              <a:ea typeface="Arial"/>
              <a:cs typeface="Arial"/>
              <a:sym typeface="Arial"/>
            </a:endParaRPr>
          </a:p>
        </p:txBody>
      </p:sp>
      <p:sp>
        <p:nvSpPr>
          <p:cNvPr id="414" name="Google Shape;414;p31"/>
          <p:cNvSpPr txBox="1"/>
          <p:nvPr/>
        </p:nvSpPr>
        <p:spPr>
          <a:xfrm>
            <a:off x="7772400" y="1755648"/>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5400"/>
              <a:buFont typeface="Arial"/>
              <a:buNone/>
            </a:pPr>
            <a:r>
              <a:rPr b="1" i="0" lang="en-US" sz="5400" u="none" cap="none" strike="noStrike">
                <a:solidFill>
                  <a:schemeClr val="accent4"/>
                </a:solidFill>
                <a:latin typeface="Arial"/>
                <a:ea typeface="Arial"/>
                <a:cs typeface="Arial"/>
                <a:sym typeface="Arial"/>
              </a:rPr>
              <a:t>78%</a:t>
            </a:r>
            <a:endParaRPr b="0" i="0" sz="5400" u="none" cap="none" strike="noStrike">
              <a:solidFill>
                <a:schemeClr val="dk1"/>
              </a:solidFill>
              <a:latin typeface="Arial"/>
              <a:ea typeface="Arial"/>
              <a:cs typeface="Arial"/>
              <a:sym typeface="Arial"/>
            </a:endParaRPr>
          </a:p>
        </p:txBody>
      </p:sp>
      <p:sp>
        <p:nvSpPr>
          <p:cNvPr id="415" name="Google Shape;415;p31"/>
          <p:cNvSpPr txBox="1"/>
          <p:nvPr/>
        </p:nvSpPr>
        <p:spPr>
          <a:xfrm>
            <a:off x="7772400" y="2624328"/>
            <a:ext cx="38404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31 of 40 agree with the human labels. The bar is 85%</a:t>
            </a:r>
            <a:endParaRPr b="0" i="0" sz="1800" u="none" cap="none" strike="noStrike">
              <a:solidFill>
                <a:schemeClr val="dk1"/>
              </a:solidFill>
              <a:latin typeface="Arial"/>
              <a:ea typeface="Arial"/>
              <a:cs typeface="Arial"/>
              <a:sym typeface="Arial"/>
            </a:endParaRPr>
          </a:p>
        </p:txBody>
      </p:sp>
      <p:sp>
        <p:nvSpPr>
          <p:cNvPr id="416" name="Google Shape;416;p31"/>
          <p:cNvSpPr txBox="1"/>
          <p:nvPr/>
        </p:nvSpPr>
        <p:spPr>
          <a:xfrm>
            <a:off x="7772400" y="3675888"/>
            <a:ext cx="384048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The errors do not look random: </a:t>
            </a:r>
            <a:r>
              <a:rPr b="0" i="0" lang="en-US" sz="1800" u="none" cap="none" strike="noStrike">
                <a:solidFill>
                  <a:schemeClr val="dk1"/>
                </a:solidFill>
                <a:latin typeface="Arial"/>
                <a:ea typeface="Arial"/>
                <a:cs typeface="Arial"/>
                <a:sym typeface="Arial"/>
              </a:rPr>
              <a:t>something systematic is fixable</a:t>
            </a:r>
            <a:endParaRPr b="0" i="0" sz="1800" u="none" cap="none" strike="noStrike">
              <a:solidFill>
                <a:schemeClr val="dk1"/>
              </a:solidFill>
              <a:latin typeface="Arial"/>
              <a:ea typeface="Arial"/>
              <a:cs typeface="Arial"/>
              <a:sym typeface="Arial"/>
            </a:endParaRPr>
          </a:p>
        </p:txBody>
      </p:sp>
      <p:sp>
        <p:nvSpPr>
          <p:cNvPr id="417" name="Google Shape;417;p31"/>
          <p:cNvSpPr txBox="1"/>
          <p:nvPr/>
        </p:nvSpPr>
        <p:spPr>
          <a:xfrm>
            <a:off x="7772400" y="4681728"/>
            <a:ext cx="3840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So we pull up the agreement matrix</a:t>
            </a:r>
            <a:endParaRPr b="0" i="0" sz="1800" u="none" cap="none" strike="noStrike">
              <a:solidFill>
                <a:schemeClr val="dk1"/>
              </a:solidFill>
              <a:latin typeface="Arial"/>
              <a:ea typeface="Arial"/>
              <a:cs typeface="Arial"/>
              <a:sym typeface="Arial"/>
            </a:endParaRPr>
          </a:p>
        </p:txBody>
      </p:sp>
      <p:sp>
        <p:nvSpPr>
          <p:cNvPr id="418" name="Google Shape;418;p31"/>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419" name="Google Shape;419;p3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Use judge errors to find the loophole, improve the rubric, and re-test</a:t>
            </a:r>
            <a:endParaRPr sz="2200"/>
          </a:p>
        </p:txBody>
      </p:sp>
      <p:sp>
        <p:nvSpPr>
          <p:cNvPr id="426" name="Google Shape;426;p32"/>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The same 40 human labels, before and after the fix</a:t>
            </a:r>
            <a:endParaRPr b="0" i="0" sz="1400" u="none" cap="none" strike="noStrike">
              <a:solidFill>
                <a:schemeClr val="dk1"/>
              </a:solidFill>
              <a:latin typeface="Arial"/>
              <a:ea typeface="Arial"/>
              <a:cs typeface="Arial"/>
              <a:sym typeface="Arial"/>
            </a:endParaRPr>
          </a:p>
        </p:txBody>
      </p:sp>
      <p:pic>
        <p:nvPicPr>
          <p:cNvPr descr="Two agreement matrices on the same 40 human labels. Before: 28 pass-pass, 3 human pass and judge fail, 6 human fail and judge pass, 3 fail-fail: 31 of 40 agree, 78 percent, kappa 0.27, 6 false passes. The loophole: the answer cites a real policy, but the wrong version. The fix is one FAIL boundary: the citation must match the doc version in context. After: 28, 3, 1, 8: 36 of 40 agree, 90 percent, kappa 0.73, 1 false pass." id="427" name="Google Shape;427;p32"/>
          <p:cNvPicPr preferRelativeResize="0"/>
          <p:nvPr/>
        </p:nvPicPr>
        <p:blipFill rotWithShape="1">
          <a:blip r:embed="rId3">
            <a:alphaModFix/>
          </a:blip>
          <a:srcRect b="0" l="0" r="0" t="0"/>
          <a:stretch/>
        </p:blipFill>
        <p:spPr>
          <a:xfrm>
            <a:off x="612648" y="1527048"/>
            <a:ext cx="10972800" cy="3931920"/>
          </a:xfrm>
          <a:prstGeom prst="rect">
            <a:avLst/>
          </a:prstGeom>
          <a:noFill/>
          <a:ln>
            <a:noFill/>
          </a:ln>
        </p:spPr>
      </p:pic>
      <p:sp>
        <p:nvSpPr>
          <p:cNvPr id="428" name="Google Shape;428;p3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One boundary rule: +12 points, 5 of 6 false passes gone</a:t>
            </a:r>
            <a:endParaRPr b="0" i="0" sz="1800" u="none" cap="none" strike="noStrike">
              <a:solidFill>
                <a:schemeClr val="dk1"/>
              </a:solidFill>
              <a:latin typeface="Arial"/>
              <a:ea typeface="Arial"/>
              <a:cs typeface="Arial"/>
              <a:sym typeface="Arial"/>
            </a:endParaRPr>
          </a:p>
        </p:txBody>
      </p:sp>
      <p:sp>
        <p:nvSpPr>
          <p:cNvPr id="429" name="Google Shape;429;p32"/>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430" name="Google Shape;430;p3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Use per-metric A/B results to make a safer ship decision</a:t>
            </a:r>
            <a:endParaRPr sz="2200"/>
          </a:p>
        </p:txBody>
      </p:sp>
      <p:graphicFrame>
        <p:nvGraphicFramePr>
          <p:cNvPr id="437" name="Google Shape;437;p33"/>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2743200"/>
                <a:gridCol w="1554475"/>
                <a:gridCol w="2011675"/>
                <a:gridCol w="1188725"/>
              </a:tblGrid>
              <a:tr h="777250">
                <a:tc>
                  <a:txBody>
                    <a:bodyPr/>
                    <a:lstStyle/>
                    <a:p>
                      <a:pPr indent="0" lvl="0" marL="0" marR="0" rtl="0" algn="l">
                        <a:spcBef>
                          <a:spcPts val="0"/>
                        </a:spcBef>
                        <a:spcAft>
                          <a:spcPts val="0"/>
                        </a:spcAft>
                        <a:buClr>
                          <a:schemeClr val="accent6"/>
                        </a:buClr>
                        <a:buSzPts val="1800"/>
                        <a:buFont typeface="Arial"/>
                        <a:buNone/>
                      </a:pPr>
                      <a:r>
                        <a:rPr b="1" lang="en-US" sz="1800" u="none" cap="none" strike="noStrike">
                          <a:solidFill>
                            <a:schemeClr val="accent6"/>
                          </a:solidFill>
                        </a:rPr>
                        <a:t>Metric</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b="1" lang="en-US" sz="1800" u="none" cap="none" strike="noStrike">
                          <a:solidFill>
                            <a:schemeClr val="accent6"/>
                          </a:solidFill>
                        </a:rPr>
                        <a:t>A (current)</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b="1" lang="en-US" sz="1800" u="none" cap="none" strike="noStrike">
                          <a:solidFill>
                            <a:schemeClr val="accent6"/>
                          </a:solidFill>
                        </a:rPr>
                        <a:t>B (new prompt)</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b="1" lang="en-US" sz="1800" u="none" cap="none" strike="noStrike">
                          <a:solidFill>
                            <a:schemeClr val="accent6"/>
                          </a:solidFill>
                        </a:rPr>
                        <a:t>Change</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dk1"/>
                        </a:buClr>
                        <a:buSzPts val="1800"/>
                        <a:buFont typeface="Arial"/>
                        <a:buNone/>
                      </a:pPr>
                      <a:r>
                        <a:rPr b="1" lang="en-US" sz="1800" u="none" cap="none" strike="noStrike">
                          <a:solidFill>
                            <a:schemeClr val="dk1"/>
                          </a:solidFill>
                        </a:rPr>
                        <a:t>Faithfulness</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82%</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91%</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1"/>
                        </a:buClr>
                        <a:buSzPts val="1800"/>
                        <a:buFont typeface="Arial"/>
                        <a:buNone/>
                      </a:pPr>
                      <a:r>
                        <a:rPr b="1" lang="en-US" sz="1800" u="none" cap="none" strike="noStrike">
                          <a:solidFill>
                            <a:schemeClr val="accent1"/>
                          </a:solidFill>
                        </a:rPr>
                        <a:t>+9</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dk1"/>
                        </a:buClr>
                        <a:buSzPts val="1800"/>
                        <a:buFont typeface="Arial"/>
                        <a:buNone/>
                      </a:pPr>
                      <a:r>
                        <a:rPr b="1" lang="en-US" sz="1800" u="none" cap="none" strike="noStrike">
                          <a:solidFill>
                            <a:schemeClr val="dk1"/>
                          </a:solidFill>
                        </a:rPr>
                        <a:t>Completeness</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88%</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85%</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3"/>
                        </a:buClr>
                        <a:buSzPts val="1800"/>
                        <a:buFont typeface="Arial"/>
                        <a:buNone/>
                      </a:pPr>
                      <a:r>
                        <a:rPr b="1" lang="en-US" sz="1800" u="none" cap="none" strike="noStrike">
                          <a:solidFill>
                            <a:schemeClr val="accent3"/>
                          </a:solidFill>
                        </a:rPr>
                        <a:t>−3</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dk1"/>
                        </a:buClr>
                        <a:buSzPts val="1800"/>
                        <a:buFont typeface="Arial"/>
                        <a:buNone/>
                      </a:pPr>
                      <a:r>
                        <a:rPr b="1" lang="en-US" sz="1800" u="none" cap="none" strike="noStrike">
                          <a:solidFill>
                            <a:schemeClr val="dk1"/>
                          </a:solidFill>
                        </a:rPr>
                        <a:t>Tone</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90%</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92%</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1"/>
                        </a:buClr>
                        <a:buSzPts val="1800"/>
                        <a:buFont typeface="Arial"/>
                        <a:buNone/>
                      </a:pPr>
                      <a:r>
                        <a:rPr b="1" lang="en-US" sz="1800" u="none" cap="none" strike="noStrike">
                          <a:solidFill>
                            <a:schemeClr val="accent1"/>
                          </a:solidFill>
                        </a:rPr>
                        <a:t>+2</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accent6"/>
                        </a:buClr>
                        <a:buSzPts val="1800"/>
                        <a:buFont typeface="Arial"/>
                        <a:buNone/>
                      </a:pPr>
                      <a:r>
                        <a:rPr b="1" lang="en-US" sz="1800" u="none" cap="none" strike="noStrike">
                          <a:solidFill>
                            <a:schemeClr val="accent6"/>
                          </a:solidFill>
                        </a:rPr>
                        <a:t>Blended average</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lang="en-US" sz="1800" u="none" cap="none" strike="noStrike">
                          <a:solidFill>
                            <a:schemeClr val="accent6"/>
                          </a:solidFill>
                        </a:rPr>
                        <a:t>86.7%</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lang="en-US" sz="1800" u="none" cap="none" strike="noStrike">
                          <a:solidFill>
                            <a:schemeClr val="accent6"/>
                          </a:solidFill>
                        </a:rPr>
                        <a:t>89.3%</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lang="en-US" sz="1800" u="none" cap="none" strike="noStrike">
                          <a:solidFill>
                            <a:schemeClr val="accent6"/>
                          </a:solidFill>
                        </a:rPr>
                        <a:t>+2.7</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438" name="Google Shape;438;p33"/>
          <p:cNvSpPr txBox="1"/>
          <p:nvPr/>
        </p:nvSpPr>
        <p:spPr>
          <a:xfrm>
            <a:off x="8595360" y="1892808"/>
            <a:ext cx="3017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−3</a:t>
            </a:r>
            <a:endParaRPr b="0" i="0" sz="5400" u="none" cap="none" strike="noStrike">
              <a:solidFill>
                <a:schemeClr val="dk1"/>
              </a:solidFill>
              <a:latin typeface="Arial"/>
              <a:ea typeface="Arial"/>
              <a:cs typeface="Arial"/>
              <a:sym typeface="Arial"/>
            </a:endParaRPr>
          </a:p>
        </p:txBody>
      </p:sp>
      <p:sp>
        <p:nvSpPr>
          <p:cNvPr id="439" name="Google Shape;439;p33"/>
          <p:cNvSpPr txBox="1"/>
          <p:nvPr/>
        </p:nvSpPr>
        <p:spPr>
          <a:xfrm>
            <a:off x="8595360" y="2761488"/>
            <a:ext cx="30175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on completeness. A blended score reads about +3 and hides it</a:t>
            </a:r>
            <a:endParaRPr b="0" i="0" sz="1600" u="none" cap="none" strike="noStrike">
              <a:solidFill>
                <a:schemeClr val="dk1"/>
              </a:solidFill>
              <a:latin typeface="Arial"/>
              <a:ea typeface="Arial"/>
              <a:cs typeface="Arial"/>
              <a:sym typeface="Arial"/>
            </a:endParaRPr>
          </a:p>
        </p:txBody>
      </p:sp>
      <p:sp>
        <p:nvSpPr>
          <p:cNvPr id="440" name="Google Shape;440;p3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Ship B? It depends on which failure hurts users more, and on whether −3 is real (week 4)</a:t>
            </a:r>
            <a:endParaRPr b="0" i="0" sz="1800" u="none" cap="none" strike="noStrike">
              <a:solidFill>
                <a:schemeClr val="dk1"/>
              </a:solidFill>
              <a:latin typeface="Arial"/>
              <a:ea typeface="Arial"/>
              <a:cs typeface="Arial"/>
              <a:sym typeface="Arial"/>
            </a:endParaRPr>
          </a:p>
        </p:txBody>
      </p:sp>
      <p:sp>
        <p:nvSpPr>
          <p:cNvPr id="441" name="Google Shape;441;p3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442" name="Google Shape;442;p3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6</a:t>
            </a:r>
            <a:endParaRPr b="0" i="0" sz="1200" u="none" cap="none" strike="noStrike">
              <a:solidFill>
                <a:schemeClr val="dk1"/>
              </a:solidFill>
              <a:latin typeface="Arial"/>
              <a:ea typeface="Arial"/>
              <a:cs typeface="Arial"/>
              <a:sym typeface="Arial"/>
            </a:endParaRPr>
          </a:p>
        </p:txBody>
      </p:sp>
      <p:sp>
        <p:nvSpPr>
          <p:cNvPr id="450" name="Google Shape;450;p3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Project 2: build and validate judges for your code assistant</a:t>
            </a:r>
            <a:endParaRPr sz="3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Project 2: build, validate, improve and compare three judges</a:t>
            </a:r>
            <a:endParaRPr sz="2200"/>
          </a:p>
        </p:txBody>
      </p:sp>
      <p:sp>
        <p:nvSpPr>
          <p:cNvPr id="457" name="Google Shape;457;p35"/>
          <p:cNvSpPr txBox="1"/>
          <p:nvPr/>
        </p:nvSpPr>
        <p:spPr>
          <a:xfrm>
            <a:off x="822960" y="157276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458" name="Google Shape;458;p35"/>
          <p:cNvSpPr txBox="1"/>
          <p:nvPr/>
        </p:nvSpPr>
        <p:spPr>
          <a:xfrm>
            <a:off x="1280160" y="157276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Write 3 binary rubrics</a:t>
            </a:r>
            <a:endParaRPr b="0" i="0" sz="2000" u="none" cap="none" strike="noStrike">
              <a:solidFill>
                <a:schemeClr val="dk1"/>
              </a:solidFill>
              <a:latin typeface="Arial"/>
              <a:ea typeface="Arial"/>
              <a:cs typeface="Arial"/>
              <a:sym typeface="Arial"/>
            </a:endParaRPr>
          </a:p>
        </p:txBody>
      </p:sp>
      <p:sp>
        <p:nvSpPr>
          <p:cNvPr id="459" name="Google Shape;459;p35"/>
          <p:cNvSpPr txBox="1"/>
          <p:nvPr/>
        </p:nvSpPr>
        <p:spPr>
          <a:xfrm>
            <a:off x="1280160" y="194513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code correctness, doc relevance, tool-call accuracy</a:t>
            </a:r>
            <a:endParaRPr b="0" i="0" sz="1600" u="none" cap="none" strike="noStrike">
              <a:solidFill>
                <a:schemeClr val="dk1"/>
              </a:solidFill>
              <a:latin typeface="Arial"/>
              <a:ea typeface="Arial"/>
              <a:cs typeface="Arial"/>
              <a:sym typeface="Arial"/>
            </a:endParaRPr>
          </a:p>
        </p:txBody>
      </p:sp>
      <p:sp>
        <p:nvSpPr>
          <p:cNvPr id="460" name="Google Shape;460;p35"/>
          <p:cNvSpPr txBox="1"/>
          <p:nvPr/>
        </p:nvSpPr>
        <p:spPr>
          <a:xfrm>
            <a:off x="822960" y="276148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461" name="Google Shape;461;p35"/>
          <p:cNvSpPr txBox="1"/>
          <p:nvPr/>
        </p:nvSpPr>
        <p:spPr>
          <a:xfrm>
            <a:off x="1280160" y="276148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Implement as judges</a:t>
            </a:r>
            <a:endParaRPr b="0" i="0" sz="2000" u="none" cap="none" strike="noStrike">
              <a:solidFill>
                <a:schemeClr val="dk1"/>
              </a:solidFill>
              <a:latin typeface="Arial"/>
              <a:ea typeface="Arial"/>
              <a:cs typeface="Arial"/>
              <a:sym typeface="Arial"/>
            </a:endParaRPr>
          </a:p>
        </p:txBody>
      </p:sp>
      <p:sp>
        <p:nvSpPr>
          <p:cNvPr id="462" name="Google Shape;462;p35"/>
          <p:cNvSpPr txBox="1"/>
          <p:nvPr/>
        </p:nvSpPr>
        <p:spPr>
          <a:xfrm>
            <a:off x="1280160" y="313385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one per rubric, in DeepEval. Output: reasoning, then PASS or FAIL</a:t>
            </a:r>
            <a:endParaRPr b="0" i="0" sz="1600" u="none" cap="none" strike="noStrike">
              <a:solidFill>
                <a:schemeClr val="dk1"/>
              </a:solidFill>
              <a:latin typeface="Arial"/>
              <a:ea typeface="Arial"/>
              <a:cs typeface="Arial"/>
              <a:sym typeface="Arial"/>
            </a:endParaRPr>
          </a:p>
        </p:txBody>
      </p:sp>
      <p:sp>
        <p:nvSpPr>
          <p:cNvPr id="463" name="Google Shape;463;p35"/>
          <p:cNvSpPr txBox="1"/>
          <p:nvPr/>
        </p:nvSpPr>
        <p:spPr>
          <a:xfrm>
            <a:off x="822960" y="395020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464" name="Google Shape;464;p35"/>
          <p:cNvSpPr txBox="1"/>
          <p:nvPr/>
        </p:nvSpPr>
        <p:spPr>
          <a:xfrm>
            <a:off x="1280160" y="395020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Run against 40 labels</a:t>
            </a:r>
            <a:endParaRPr b="0" i="0" sz="2000" u="none" cap="none" strike="noStrike">
              <a:solidFill>
                <a:schemeClr val="dk1"/>
              </a:solidFill>
              <a:latin typeface="Arial"/>
              <a:ea typeface="Arial"/>
              <a:cs typeface="Arial"/>
              <a:sym typeface="Arial"/>
            </a:endParaRPr>
          </a:p>
        </p:txBody>
      </p:sp>
      <p:sp>
        <p:nvSpPr>
          <p:cNvPr id="465" name="Google Shape;465;p35"/>
          <p:cNvSpPr txBox="1"/>
          <p:nvPr/>
        </p:nvSpPr>
        <p:spPr>
          <a:xfrm>
            <a:off x="1280160" y="432257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provided labeled set; compute agreement and κ</a:t>
            </a:r>
            <a:endParaRPr b="0" i="0" sz="1600" u="none" cap="none" strike="noStrike">
              <a:solidFill>
                <a:schemeClr val="dk1"/>
              </a:solidFill>
              <a:latin typeface="Arial"/>
              <a:ea typeface="Arial"/>
              <a:cs typeface="Arial"/>
              <a:sym typeface="Arial"/>
            </a:endParaRPr>
          </a:p>
        </p:txBody>
      </p:sp>
      <p:sp>
        <p:nvSpPr>
          <p:cNvPr id="466" name="Google Shape;466;p35"/>
          <p:cNvSpPr txBox="1"/>
          <p:nvPr/>
        </p:nvSpPr>
        <p:spPr>
          <a:xfrm>
            <a:off x="6355080" y="157276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467" name="Google Shape;467;p35"/>
          <p:cNvSpPr txBox="1"/>
          <p:nvPr/>
        </p:nvSpPr>
        <p:spPr>
          <a:xfrm>
            <a:off x="6812280" y="157276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Diagnose and fix</a:t>
            </a:r>
            <a:endParaRPr b="0" i="0" sz="2000" u="none" cap="none" strike="noStrike">
              <a:solidFill>
                <a:schemeClr val="dk1"/>
              </a:solidFill>
              <a:latin typeface="Arial"/>
              <a:ea typeface="Arial"/>
              <a:cs typeface="Arial"/>
              <a:sym typeface="Arial"/>
            </a:endParaRPr>
          </a:p>
        </p:txBody>
      </p:sp>
      <p:sp>
        <p:nvSpPr>
          <p:cNvPr id="468" name="Google Shape;468;p35"/>
          <p:cNvSpPr txBox="1"/>
          <p:nvPr/>
        </p:nvSpPr>
        <p:spPr>
          <a:xfrm>
            <a:off x="6812280" y="194513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read the false passes; add a boundary; re-run</a:t>
            </a:r>
            <a:endParaRPr b="0" i="0" sz="1600" u="none" cap="none" strike="noStrike">
              <a:solidFill>
                <a:schemeClr val="dk1"/>
              </a:solidFill>
              <a:latin typeface="Arial"/>
              <a:ea typeface="Arial"/>
              <a:cs typeface="Arial"/>
              <a:sym typeface="Arial"/>
            </a:endParaRPr>
          </a:p>
        </p:txBody>
      </p:sp>
      <p:sp>
        <p:nvSpPr>
          <p:cNvPr id="469" name="Google Shape;469;p35"/>
          <p:cNvSpPr txBox="1"/>
          <p:nvPr/>
        </p:nvSpPr>
        <p:spPr>
          <a:xfrm>
            <a:off x="6355080" y="276148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470" name="Google Shape;470;p35"/>
          <p:cNvSpPr txBox="1"/>
          <p:nvPr/>
        </p:nvSpPr>
        <p:spPr>
          <a:xfrm>
            <a:off x="6812280" y="276148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Hit the trust bar</a:t>
            </a:r>
            <a:endParaRPr b="0" i="0" sz="2000" u="none" cap="none" strike="noStrike">
              <a:solidFill>
                <a:schemeClr val="dk1"/>
              </a:solidFill>
              <a:latin typeface="Arial"/>
              <a:ea typeface="Arial"/>
              <a:cs typeface="Arial"/>
              <a:sym typeface="Arial"/>
            </a:endParaRPr>
          </a:p>
        </p:txBody>
      </p:sp>
      <p:sp>
        <p:nvSpPr>
          <p:cNvPr id="471" name="Google Shape;471;p35"/>
          <p:cNvSpPr txBox="1"/>
          <p:nvPr/>
        </p:nvSpPr>
        <p:spPr>
          <a:xfrm>
            <a:off x="6812280" y="313385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85% agreement and κ ≥ 0.6 on your worst judge; read every false pass</a:t>
            </a:r>
            <a:endParaRPr b="0" i="0" sz="1600" u="none" cap="none" strike="noStrike">
              <a:solidFill>
                <a:schemeClr val="dk1"/>
              </a:solidFill>
              <a:latin typeface="Arial"/>
              <a:ea typeface="Arial"/>
              <a:cs typeface="Arial"/>
              <a:sym typeface="Arial"/>
            </a:endParaRPr>
          </a:p>
        </p:txBody>
      </p:sp>
      <p:sp>
        <p:nvSpPr>
          <p:cNvPr id="472" name="Google Shape;472;p35"/>
          <p:cNvSpPr txBox="1"/>
          <p:nvPr/>
        </p:nvSpPr>
        <p:spPr>
          <a:xfrm>
            <a:off x="6355080" y="395020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6</a:t>
            </a:r>
            <a:endParaRPr b="0" i="0" sz="2000" u="none" cap="none" strike="noStrike">
              <a:solidFill>
                <a:schemeClr val="dk1"/>
              </a:solidFill>
              <a:latin typeface="Arial"/>
              <a:ea typeface="Arial"/>
              <a:cs typeface="Arial"/>
              <a:sym typeface="Arial"/>
            </a:endParaRPr>
          </a:p>
        </p:txBody>
      </p:sp>
      <p:sp>
        <p:nvSpPr>
          <p:cNvPr id="473" name="Google Shape;473;p35"/>
          <p:cNvSpPr txBox="1"/>
          <p:nvPr/>
        </p:nvSpPr>
        <p:spPr>
          <a:xfrm>
            <a:off x="6812280" y="395020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A/B two variants</a:t>
            </a:r>
            <a:endParaRPr b="0" i="0" sz="2000" u="none" cap="none" strike="noStrike">
              <a:solidFill>
                <a:schemeClr val="dk1"/>
              </a:solidFill>
              <a:latin typeface="Arial"/>
              <a:ea typeface="Arial"/>
              <a:cs typeface="Arial"/>
              <a:sym typeface="Arial"/>
            </a:endParaRPr>
          </a:p>
        </p:txBody>
      </p:sp>
      <p:sp>
        <p:nvSpPr>
          <p:cNvPr id="474" name="Google Shape;474;p35"/>
          <p:cNvSpPr txBox="1"/>
          <p:nvPr/>
        </p:nvSpPr>
        <p:spPr>
          <a:xfrm>
            <a:off x="6812280" y="432257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compare prompt A and prompt B across all three judges</a:t>
            </a:r>
            <a:endParaRPr b="0" i="0" sz="1600" u="none" cap="none" strike="noStrike">
              <a:solidFill>
                <a:schemeClr val="dk1"/>
              </a:solidFill>
              <a:latin typeface="Arial"/>
              <a:ea typeface="Arial"/>
              <a:cs typeface="Arial"/>
              <a:sym typeface="Arial"/>
            </a:endParaRPr>
          </a:p>
        </p:txBody>
      </p:sp>
      <p:sp>
        <p:nvSpPr>
          <p:cNvPr id="475" name="Google Shape;475;p35"/>
          <p:cNvSpPr txBox="1"/>
          <p:nvPr/>
        </p:nvSpPr>
        <p:spPr>
          <a:xfrm>
            <a:off x="822960" y="5623560"/>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Submit: </a:t>
            </a:r>
            <a:r>
              <a:rPr b="0" i="0" lang="en-US" sz="1500" u="none" cap="none" strike="noStrike">
                <a:solidFill>
                  <a:schemeClr val="dk1"/>
                </a:solidFill>
                <a:latin typeface="Arial"/>
                <a:ea typeface="Arial"/>
                <a:cs typeface="Arial"/>
                <a:sym typeface="Arial"/>
              </a:rPr>
              <a:t>3 judge prompts, validation metrics, error analysis, revised rubrics, per-metric A/B results, a ship or no-ship call</a:t>
            </a:r>
            <a:endParaRPr b="0" i="0" sz="1500" u="none" cap="none" strike="noStrike">
              <a:solidFill>
                <a:schemeClr val="dk1"/>
              </a:solidFill>
              <a:latin typeface="Arial"/>
              <a:ea typeface="Arial"/>
              <a:cs typeface="Arial"/>
              <a:sym typeface="Arial"/>
            </a:endParaRPr>
          </a:p>
        </p:txBody>
      </p:sp>
      <p:sp>
        <p:nvSpPr>
          <p:cNvPr id="476" name="Google Shape;476;p3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Project 2: definition of done</a:t>
            </a:r>
            <a:endParaRPr sz="2200"/>
          </a:p>
        </p:txBody>
      </p:sp>
      <p:pic>
        <p:nvPicPr>
          <p:cNvPr descr="check" id="483" name="Google Shape;483;p36"/>
          <p:cNvPicPr preferRelativeResize="0"/>
          <p:nvPr/>
        </p:nvPicPr>
        <p:blipFill rotWithShape="1">
          <a:blip r:embed="rId3">
            <a:alphaModFix/>
          </a:blip>
          <a:srcRect b="0" l="0" r="0" t="0"/>
          <a:stretch/>
        </p:blipFill>
        <p:spPr>
          <a:xfrm>
            <a:off x="548640" y="1650492"/>
            <a:ext cx="256032" cy="256032"/>
          </a:xfrm>
          <a:prstGeom prst="rect">
            <a:avLst/>
          </a:prstGeom>
          <a:noFill/>
          <a:ln>
            <a:noFill/>
          </a:ln>
        </p:spPr>
      </p:pic>
      <p:sp>
        <p:nvSpPr>
          <p:cNvPr id="484" name="Google Shape;484;p36"/>
          <p:cNvSpPr txBox="1"/>
          <p:nvPr/>
        </p:nvSpPr>
        <p:spPr>
          <a:xfrm>
            <a:off x="1005840" y="14356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 binary judges, each answering one question</a:t>
            </a:r>
            <a:endParaRPr b="0" i="0" sz="2000" u="none" cap="none" strike="noStrike">
              <a:solidFill>
                <a:schemeClr val="dk1"/>
              </a:solidFill>
              <a:latin typeface="Arial"/>
              <a:ea typeface="Arial"/>
              <a:cs typeface="Arial"/>
              <a:sym typeface="Arial"/>
            </a:endParaRPr>
          </a:p>
        </p:txBody>
      </p:sp>
      <p:sp>
        <p:nvSpPr>
          <p:cNvPr id="485" name="Google Shape;485;p36"/>
          <p:cNvSpPr txBox="1"/>
          <p:nvPr/>
        </p:nvSpPr>
        <p:spPr>
          <a:xfrm>
            <a:off x="7659014" y="14356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no Likert, no multi-criteria prompts</a:t>
            </a:r>
            <a:endParaRPr b="0" i="0" sz="1600" u="none" cap="none" strike="noStrike">
              <a:solidFill>
                <a:schemeClr val="dk1"/>
              </a:solidFill>
              <a:latin typeface="Arial"/>
              <a:ea typeface="Arial"/>
              <a:cs typeface="Arial"/>
              <a:sym typeface="Arial"/>
            </a:endParaRPr>
          </a:p>
        </p:txBody>
      </p:sp>
      <p:cxnSp>
        <p:nvCxnSpPr>
          <p:cNvPr id="486" name="Google Shape;486;p36"/>
          <p:cNvCxnSpPr/>
          <p:nvPr/>
        </p:nvCxnSpPr>
        <p:spPr>
          <a:xfrm>
            <a:off x="548640" y="21214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87" name="Google Shape;487;p36"/>
          <p:cNvPicPr preferRelativeResize="0"/>
          <p:nvPr/>
        </p:nvPicPr>
        <p:blipFill rotWithShape="1">
          <a:blip r:embed="rId3">
            <a:alphaModFix/>
          </a:blip>
          <a:srcRect b="0" l="0" r="0" t="0"/>
          <a:stretch/>
        </p:blipFill>
        <p:spPr>
          <a:xfrm>
            <a:off x="548640" y="2336292"/>
            <a:ext cx="256032" cy="256032"/>
          </a:xfrm>
          <a:prstGeom prst="rect">
            <a:avLst/>
          </a:prstGeom>
          <a:noFill/>
          <a:ln>
            <a:noFill/>
          </a:ln>
        </p:spPr>
      </p:pic>
      <p:sp>
        <p:nvSpPr>
          <p:cNvPr id="488" name="Google Shape;488;p36"/>
          <p:cNvSpPr txBox="1"/>
          <p:nvPr/>
        </p:nvSpPr>
        <p:spPr>
          <a:xfrm>
            <a:off x="1005840" y="21214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Each judge run against the 40-label set</a:t>
            </a:r>
            <a:endParaRPr b="0" i="0" sz="2000" u="none" cap="none" strike="noStrike">
              <a:solidFill>
                <a:schemeClr val="dk1"/>
              </a:solidFill>
              <a:latin typeface="Arial"/>
              <a:ea typeface="Arial"/>
              <a:cs typeface="Arial"/>
              <a:sym typeface="Arial"/>
            </a:endParaRPr>
          </a:p>
        </p:txBody>
      </p:sp>
      <p:sp>
        <p:nvSpPr>
          <p:cNvPr id="489" name="Google Shape;489;p36"/>
          <p:cNvSpPr txBox="1"/>
          <p:nvPr/>
        </p:nvSpPr>
        <p:spPr>
          <a:xfrm>
            <a:off x="7659014" y="21214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agreement and Cohen’s κ computed</a:t>
            </a:r>
            <a:endParaRPr b="0" i="0" sz="1600" u="none" cap="none" strike="noStrike">
              <a:solidFill>
                <a:schemeClr val="dk1"/>
              </a:solidFill>
              <a:latin typeface="Arial"/>
              <a:ea typeface="Arial"/>
              <a:cs typeface="Arial"/>
              <a:sym typeface="Arial"/>
            </a:endParaRPr>
          </a:p>
        </p:txBody>
      </p:sp>
      <p:cxnSp>
        <p:nvCxnSpPr>
          <p:cNvPr id="490" name="Google Shape;490;p36"/>
          <p:cNvCxnSpPr/>
          <p:nvPr/>
        </p:nvCxnSpPr>
        <p:spPr>
          <a:xfrm>
            <a:off x="548640" y="28072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91" name="Google Shape;491;p36"/>
          <p:cNvPicPr preferRelativeResize="0"/>
          <p:nvPr/>
        </p:nvPicPr>
        <p:blipFill rotWithShape="1">
          <a:blip r:embed="rId3">
            <a:alphaModFix/>
          </a:blip>
          <a:srcRect b="0" l="0" r="0" t="0"/>
          <a:stretch/>
        </p:blipFill>
        <p:spPr>
          <a:xfrm>
            <a:off x="548640" y="3022092"/>
            <a:ext cx="256032" cy="256032"/>
          </a:xfrm>
          <a:prstGeom prst="rect">
            <a:avLst/>
          </a:prstGeom>
          <a:noFill/>
          <a:ln>
            <a:noFill/>
          </a:ln>
        </p:spPr>
      </p:pic>
      <p:sp>
        <p:nvSpPr>
          <p:cNvPr id="492" name="Google Shape;492;p36"/>
          <p:cNvSpPr txBox="1"/>
          <p:nvPr/>
        </p:nvSpPr>
        <p:spPr>
          <a:xfrm>
            <a:off x="1005840" y="28072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My worst judge reaches 85% agreement and κ ≥ 0.6</a:t>
            </a:r>
            <a:endParaRPr b="0" i="0" sz="2000" u="none" cap="none" strike="noStrike">
              <a:solidFill>
                <a:schemeClr val="dk1"/>
              </a:solidFill>
              <a:latin typeface="Arial"/>
              <a:ea typeface="Arial"/>
              <a:cs typeface="Arial"/>
              <a:sym typeface="Arial"/>
            </a:endParaRPr>
          </a:p>
        </p:txBody>
      </p:sp>
      <p:sp>
        <p:nvSpPr>
          <p:cNvPr id="493" name="Google Shape;493;p36"/>
          <p:cNvSpPr txBox="1"/>
          <p:nvPr/>
        </p:nvSpPr>
        <p:spPr>
          <a:xfrm>
            <a:off x="7659014" y="28072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after at least one diagnose-and-fix cycle</a:t>
            </a:r>
            <a:endParaRPr b="0" i="0" sz="1600" u="none" cap="none" strike="noStrike">
              <a:solidFill>
                <a:schemeClr val="dk1"/>
              </a:solidFill>
              <a:latin typeface="Arial"/>
              <a:ea typeface="Arial"/>
              <a:cs typeface="Arial"/>
              <a:sym typeface="Arial"/>
            </a:endParaRPr>
          </a:p>
        </p:txBody>
      </p:sp>
      <p:cxnSp>
        <p:nvCxnSpPr>
          <p:cNvPr id="494" name="Google Shape;494;p36"/>
          <p:cNvCxnSpPr/>
          <p:nvPr/>
        </p:nvCxnSpPr>
        <p:spPr>
          <a:xfrm>
            <a:off x="548640" y="34930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95" name="Google Shape;495;p36"/>
          <p:cNvPicPr preferRelativeResize="0"/>
          <p:nvPr/>
        </p:nvPicPr>
        <p:blipFill rotWithShape="1">
          <a:blip r:embed="rId3">
            <a:alphaModFix/>
          </a:blip>
          <a:srcRect b="0" l="0" r="0" t="0"/>
          <a:stretch/>
        </p:blipFill>
        <p:spPr>
          <a:xfrm>
            <a:off x="548640" y="3707892"/>
            <a:ext cx="256032" cy="256032"/>
          </a:xfrm>
          <a:prstGeom prst="rect">
            <a:avLst/>
          </a:prstGeom>
          <a:noFill/>
          <a:ln>
            <a:noFill/>
          </a:ln>
        </p:spPr>
      </p:pic>
      <p:sp>
        <p:nvSpPr>
          <p:cNvPr id="496" name="Google Shape;496;p36"/>
          <p:cNvSpPr txBox="1"/>
          <p:nvPr/>
        </p:nvSpPr>
        <p:spPr>
          <a:xfrm>
            <a:off x="1005840" y="34930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 can name each judge’s shared loophole</a:t>
            </a:r>
            <a:endParaRPr b="0" i="0" sz="2000" u="none" cap="none" strike="noStrike">
              <a:solidFill>
                <a:schemeClr val="dk1"/>
              </a:solidFill>
              <a:latin typeface="Arial"/>
              <a:ea typeface="Arial"/>
              <a:cs typeface="Arial"/>
              <a:sym typeface="Arial"/>
            </a:endParaRPr>
          </a:p>
        </p:txBody>
      </p:sp>
      <p:sp>
        <p:nvSpPr>
          <p:cNvPr id="497" name="Google Shape;497;p36"/>
          <p:cNvSpPr txBox="1"/>
          <p:nvPr/>
        </p:nvSpPr>
        <p:spPr>
          <a:xfrm>
            <a:off x="7659014" y="34930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the pattern behind its false passes</a:t>
            </a:r>
            <a:endParaRPr b="0" i="0" sz="1600" u="none" cap="none" strike="noStrike">
              <a:solidFill>
                <a:schemeClr val="dk1"/>
              </a:solidFill>
              <a:latin typeface="Arial"/>
              <a:ea typeface="Arial"/>
              <a:cs typeface="Arial"/>
              <a:sym typeface="Arial"/>
            </a:endParaRPr>
          </a:p>
        </p:txBody>
      </p:sp>
      <p:cxnSp>
        <p:nvCxnSpPr>
          <p:cNvPr id="498" name="Google Shape;498;p36"/>
          <p:cNvCxnSpPr/>
          <p:nvPr/>
        </p:nvCxnSpPr>
        <p:spPr>
          <a:xfrm>
            <a:off x="548640" y="41788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99" name="Google Shape;499;p36"/>
          <p:cNvPicPr preferRelativeResize="0"/>
          <p:nvPr/>
        </p:nvPicPr>
        <p:blipFill rotWithShape="1">
          <a:blip r:embed="rId3">
            <a:alphaModFix/>
          </a:blip>
          <a:srcRect b="0" l="0" r="0" t="0"/>
          <a:stretch/>
        </p:blipFill>
        <p:spPr>
          <a:xfrm>
            <a:off x="548640" y="4393692"/>
            <a:ext cx="256032" cy="256032"/>
          </a:xfrm>
          <a:prstGeom prst="rect">
            <a:avLst/>
          </a:prstGeom>
          <a:noFill/>
          <a:ln>
            <a:noFill/>
          </a:ln>
        </p:spPr>
      </p:pic>
      <p:sp>
        <p:nvSpPr>
          <p:cNvPr id="500" name="Google Shape;500;p36"/>
          <p:cNvSpPr txBox="1"/>
          <p:nvPr/>
        </p:nvSpPr>
        <p:spPr>
          <a:xfrm>
            <a:off x="1005840" y="41788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A/B comparison reported per metric</a:t>
            </a:r>
            <a:endParaRPr b="0" i="0" sz="2000" u="none" cap="none" strike="noStrike">
              <a:solidFill>
                <a:schemeClr val="dk1"/>
              </a:solidFill>
              <a:latin typeface="Arial"/>
              <a:ea typeface="Arial"/>
              <a:cs typeface="Arial"/>
              <a:sym typeface="Arial"/>
            </a:endParaRPr>
          </a:p>
        </p:txBody>
      </p:sp>
      <p:sp>
        <p:nvSpPr>
          <p:cNvPr id="501" name="Google Shape;501;p36"/>
          <p:cNvSpPr txBox="1"/>
          <p:nvPr/>
        </p:nvSpPr>
        <p:spPr>
          <a:xfrm>
            <a:off x="7659014" y="41788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deltas per judge, not one blended score</a:t>
            </a:r>
            <a:endParaRPr b="0" i="0" sz="1600" u="none" cap="none" strike="noStrike">
              <a:solidFill>
                <a:schemeClr val="dk1"/>
              </a:solidFill>
              <a:latin typeface="Arial"/>
              <a:ea typeface="Arial"/>
              <a:cs typeface="Arial"/>
              <a:sym typeface="Arial"/>
            </a:endParaRPr>
          </a:p>
        </p:txBody>
      </p:sp>
      <p:cxnSp>
        <p:nvCxnSpPr>
          <p:cNvPr id="502" name="Google Shape;502;p36"/>
          <p:cNvCxnSpPr/>
          <p:nvPr/>
        </p:nvCxnSpPr>
        <p:spPr>
          <a:xfrm>
            <a:off x="548640" y="48646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03" name="Google Shape;503;p36"/>
          <p:cNvPicPr preferRelativeResize="0"/>
          <p:nvPr/>
        </p:nvPicPr>
        <p:blipFill rotWithShape="1">
          <a:blip r:embed="rId3">
            <a:alphaModFix/>
          </a:blip>
          <a:srcRect b="0" l="0" r="0" t="0"/>
          <a:stretch/>
        </p:blipFill>
        <p:spPr>
          <a:xfrm>
            <a:off x="548640" y="5079492"/>
            <a:ext cx="256032" cy="256032"/>
          </a:xfrm>
          <a:prstGeom prst="rect">
            <a:avLst/>
          </a:prstGeom>
          <a:noFill/>
          <a:ln>
            <a:noFill/>
          </a:ln>
        </p:spPr>
      </p:pic>
      <p:sp>
        <p:nvSpPr>
          <p:cNvPr id="504" name="Google Shape;504;p36"/>
          <p:cNvSpPr txBox="1"/>
          <p:nvPr/>
        </p:nvSpPr>
        <p:spPr>
          <a:xfrm>
            <a:off x="1005840" y="48646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 ship or no-ship call with a reason</a:t>
            </a:r>
            <a:endParaRPr b="0" i="0" sz="2000" u="none" cap="none" strike="noStrike">
              <a:solidFill>
                <a:schemeClr val="dk1"/>
              </a:solidFill>
              <a:latin typeface="Arial"/>
              <a:ea typeface="Arial"/>
              <a:cs typeface="Arial"/>
              <a:sym typeface="Arial"/>
            </a:endParaRPr>
          </a:p>
        </p:txBody>
      </p:sp>
      <p:sp>
        <p:nvSpPr>
          <p:cNvPr id="505" name="Google Shape;505;p36"/>
          <p:cNvSpPr txBox="1"/>
          <p:nvPr/>
        </p:nvSpPr>
        <p:spPr>
          <a:xfrm>
            <a:off x="7659014" y="48646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which regression I would accept, and why</a:t>
            </a:r>
            <a:endParaRPr b="0" i="0" sz="1600" u="none" cap="none" strike="noStrike">
              <a:solidFill>
                <a:schemeClr val="dk1"/>
              </a:solidFill>
              <a:latin typeface="Arial"/>
              <a:ea typeface="Arial"/>
              <a:cs typeface="Arial"/>
              <a:sym typeface="Arial"/>
            </a:endParaRPr>
          </a:p>
        </p:txBody>
      </p:sp>
      <p:sp>
        <p:nvSpPr>
          <p:cNvPr id="506" name="Google Shape;506;p3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Practice: why 94% agreement can still mean your judge is unreliable</a:t>
            </a:r>
            <a:endParaRPr sz="2200"/>
          </a:p>
        </p:txBody>
      </p:sp>
      <p:sp>
        <p:nvSpPr>
          <p:cNvPr id="513" name="Google Shape;513;p37"/>
          <p:cNvSpPr txBox="1"/>
          <p:nvPr/>
        </p:nvSpPr>
        <p:spPr>
          <a:xfrm>
            <a:off x="548640" y="1572768"/>
            <a:ext cx="5120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The scenario</a:t>
            </a:r>
            <a:endParaRPr b="0" i="0" sz="2200" u="none" cap="none" strike="noStrike">
              <a:solidFill>
                <a:schemeClr val="dk1"/>
              </a:solidFill>
              <a:latin typeface="Arial"/>
              <a:ea typeface="Arial"/>
              <a:cs typeface="Arial"/>
              <a:sym typeface="Arial"/>
            </a:endParaRPr>
          </a:p>
        </p:txBody>
      </p:sp>
      <p:sp>
        <p:nvSpPr>
          <p:cNvPr id="514" name="Google Shape;514;p37"/>
          <p:cNvSpPr txBox="1"/>
          <p:nvPr/>
        </p:nvSpPr>
        <p:spPr>
          <a:xfrm>
            <a:off x="548640" y="2350008"/>
            <a:ext cx="5120640" cy="3474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Your teammate </a:t>
            </a:r>
            <a:r>
              <a:rPr b="0" i="0" lang="en-US" sz="2000" u="none" cap="none" strike="noStrike">
                <a:solidFill>
                  <a:schemeClr val="dk1"/>
                </a:solidFill>
                <a:latin typeface="Arial"/>
                <a:ea typeface="Arial"/>
                <a:cs typeface="Arial"/>
                <a:sym typeface="Arial"/>
              </a:rPr>
              <a:t>ships a new faithfulness judge</a:t>
            </a:r>
            <a:endParaRPr b="0" i="0" sz="2000" u="none" cap="none" strike="noStrike">
              <a:solidFill>
                <a:schemeClr val="dk1"/>
              </a:solidFill>
              <a:latin typeface="Arial"/>
              <a:ea typeface="Arial"/>
              <a:cs typeface="Arial"/>
              <a:sym typeface="Arial"/>
            </a:endParaRPr>
          </a:p>
          <a:p>
            <a:pPr indent="0" lvl="0" marL="0" marR="0" rtl="0" algn="l">
              <a:spcBef>
                <a:spcPts val="20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100 cases: </a:t>
            </a:r>
            <a:r>
              <a:rPr b="0" i="0" lang="en-US" sz="2000" u="none" cap="none" strike="noStrike">
                <a:solidFill>
                  <a:schemeClr val="dk1"/>
                </a:solidFill>
                <a:latin typeface="Arial"/>
                <a:ea typeface="Arial"/>
                <a:cs typeface="Arial"/>
                <a:sym typeface="Arial"/>
              </a:rPr>
              <a:t>93 pass and 7 fail by human label. The agent is usually right</a:t>
            </a:r>
            <a:endParaRPr b="0" i="0" sz="2000" u="none" cap="none" strike="noStrike">
              <a:solidFill>
                <a:schemeClr val="dk1"/>
              </a:solidFill>
              <a:latin typeface="Arial"/>
              <a:ea typeface="Arial"/>
              <a:cs typeface="Arial"/>
              <a:sym typeface="Arial"/>
            </a:endParaRPr>
          </a:p>
          <a:p>
            <a:pPr indent="0" lvl="0" marL="0" marR="0" rtl="0" algn="l">
              <a:spcBef>
                <a:spcPts val="20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94% agreement </a:t>
            </a:r>
            <a:r>
              <a:rPr b="0" i="0" lang="en-US" sz="2000" u="none" cap="none" strike="noStrike">
                <a:solidFill>
                  <a:schemeClr val="dk1"/>
                </a:solidFill>
                <a:latin typeface="Arial"/>
                <a:ea typeface="Arial"/>
                <a:cs typeface="Arial"/>
                <a:sym typeface="Arial"/>
              </a:rPr>
              <a:t>between the judge and the human labels</a:t>
            </a:r>
            <a:endParaRPr b="0" i="0" sz="2000" u="none" cap="none" strike="noStrike">
              <a:solidFill>
                <a:schemeClr val="dk1"/>
              </a:solidFill>
              <a:latin typeface="Arial"/>
              <a:ea typeface="Arial"/>
              <a:cs typeface="Arial"/>
              <a:sym typeface="Arial"/>
            </a:endParaRPr>
          </a:p>
          <a:p>
            <a:pPr indent="0" lvl="0" marL="0" marR="0" rtl="0" algn="l">
              <a:spcBef>
                <a:spcPts val="20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The judge </a:t>
            </a:r>
            <a:r>
              <a:rPr b="0" i="0" lang="en-US" sz="2000" u="none" cap="none" strike="noStrike">
                <a:solidFill>
                  <a:schemeClr val="dk1"/>
                </a:solidFill>
                <a:latin typeface="Arial"/>
                <a:ea typeface="Arial"/>
                <a:cs typeface="Arial"/>
                <a:sym typeface="Arial"/>
              </a:rPr>
              <a:t>marks almost everything pass</a:t>
            </a:r>
            <a:endParaRPr b="0" i="0" sz="2000" u="none" cap="none" strike="noStrike">
              <a:solidFill>
                <a:schemeClr val="dk1"/>
              </a:solidFill>
              <a:latin typeface="Arial"/>
              <a:ea typeface="Arial"/>
              <a:cs typeface="Arial"/>
              <a:sym typeface="Arial"/>
            </a:endParaRPr>
          </a:p>
        </p:txBody>
      </p:sp>
      <p:cxnSp>
        <p:nvCxnSpPr>
          <p:cNvPr id="515" name="Google Shape;515;p37"/>
          <p:cNvCxnSpPr/>
          <p:nvPr/>
        </p:nvCxnSpPr>
        <p:spPr>
          <a:xfrm>
            <a:off x="5989320" y="1572768"/>
            <a:ext cx="0" cy="4206240"/>
          </a:xfrm>
          <a:prstGeom prst="straightConnector1">
            <a:avLst/>
          </a:prstGeom>
          <a:noFill/>
          <a:ln cap="flat" cmpd="sng" w="9525">
            <a:solidFill>
              <a:srgbClr val="D5DBE1"/>
            </a:solidFill>
            <a:prstDash val="solid"/>
            <a:round/>
            <a:headEnd len="sm" w="sm" type="none"/>
            <a:tailEnd len="sm" w="sm" type="none"/>
          </a:ln>
        </p:spPr>
      </p:cxnSp>
      <p:sp>
        <p:nvSpPr>
          <p:cNvPr id="516" name="Google Shape;516;p37"/>
          <p:cNvSpPr txBox="1"/>
          <p:nvPr/>
        </p:nvSpPr>
        <p:spPr>
          <a:xfrm>
            <a:off x="6400800" y="1572768"/>
            <a:ext cx="5212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Two questions</a:t>
            </a:r>
            <a:endParaRPr b="0" i="0" sz="2200" u="none" cap="none" strike="noStrike">
              <a:solidFill>
                <a:schemeClr val="dk1"/>
              </a:solidFill>
              <a:latin typeface="Arial"/>
              <a:ea typeface="Arial"/>
              <a:cs typeface="Arial"/>
              <a:sym typeface="Arial"/>
            </a:endParaRPr>
          </a:p>
        </p:txBody>
      </p:sp>
      <p:sp>
        <p:nvSpPr>
          <p:cNvPr id="517" name="Google Shape;517;p37"/>
          <p:cNvSpPr txBox="1"/>
          <p:nvPr/>
        </p:nvSpPr>
        <p:spPr>
          <a:xfrm>
            <a:off x="6400800" y="2350008"/>
            <a:ext cx="5212080" cy="3108960"/>
          </a:xfrm>
          <a:prstGeom prst="rect">
            <a:avLst/>
          </a:prstGeom>
          <a:noFill/>
          <a:ln>
            <a:noFill/>
          </a:ln>
        </p:spPr>
        <p:txBody>
          <a:bodyPr anchorCtr="0" anchor="t" bIns="0" lIns="0" spcFirstLastPara="1" rIns="0" wrap="square" tIns="0">
            <a:noAutofit/>
          </a:bodyPr>
          <a:lstStyle/>
          <a:p>
            <a:pPr indent="-304800" lvl="0" marL="304800" marR="0" rtl="0" algn="l">
              <a:spcBef>
                <a:spcPts val="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Why is 94% agreement misleading here, and what would you check instead?</a:t>
            </a:r>
            <a:endParaRPr b="0" i="0" sz="2200" u="none" cap="none" strike="noStrike">
              <a:solidFill>
                <a:schemeClr val="dk1"/>
              </a:solidFill>
              <a:latin typeface="Arial"/>
              <a:ea typeface="Arial"/>
              <a:cs typeface="Arial"/>
              <a:sym typeface="Arial"/>
            </a:endParaRPr>
          </a:p>
          <a:p>
            <a:pPr indent="-304800" lvl="0" marL="304800" marR="0" rtl="0" algn="l">
              <a:spcBef>
                <a:spcPts val="30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Which quadrant of the matrix would you look at first, and why that one?</a:t>
            </a:r>
            <a:endParaRPr b="0" i="0" sz="2200" u="none" cap="none" strike="noStrike">
              <a:solidFill>
                <a:schemeClr val="dk1"/>
              </a:solidFill>
              <a:latin typeface="Arial"/>
              <a:ea typeface="Arial"/>
              <a:cs typeface="Arial"/>
              <a:sym typeface="Arial"/>
            </a:endParaRPr>
          </a:p>
        </p:txBody>
      </p:sp>
      <p:sp>
        <p:nvSpPr>
          <p:cNvPr id="518" name="Google Shape;518;p3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Answer: check κ and the false passes, not agreement</a:t>
            </a:r>
            <a:endParaRPr sz="2200"/>
          </a:p>
        </p:txBody>
      </p:sp>
      <p:graphicFrame>
        <p:nvGraphicFramePr>
          <p:cNvPr id="525" name="Google Shape;525;p38"/>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1828800"/>
                <a:gridCol w="1828800"/>
                <a:gridCol w="1828800"/>
              </a:tblGrid>
              <a:tr h="822950">
                <a:tc>
                  <a:txBody>
                    <a:bodyPr/>
                    <a:lstStyle/>
                    <a:p>
                      <a:pPr indent="0" lvl="0" marL="0" marR="0" rtl="0" algn="l">
                        <a:spcBef>
                          <a:spcPts val="0"/>
                        </a:spcBef>
                        <a:spcAft>
                          <a:spcPts val="0"/>
                        </a:spcAft>
                        <a:buClr>
                          <a:schemeClr val="dk1"/>
                        </a:buClr>
                        <a:buSzPts val="2000"/>
                        <a:buFont typeface="Arial"/>
                        <a:buNone/>
                      </a:pPr>
                      <a:r>
                        <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2000"/>
                        <a:buFont typeface="Arial"/>
                        <a:buNone/>
                      </a:pPr>
                      <a:r>
                        <a:rPr b="1" lang="en-US" sz="2000" u="none" cap="none" strike="noStrike">
                          <a:solidFill>
                            <a:schemeClr val="accent6"/>
                          </a:solidFill>
                        </a:rPr>
                        <a:t>Judge: pass</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2000"/>
                        <a:buFont typeface="Arial"/>
                        <a:buNone/>
                      </a:pPr>
                      <a:r>
                        <a:rPr b="1" lang="en-US" sz="2000" u="none" cap="none" strike="noStrike">
                          <a:solidFill>
                            <a:schemeClr val="accent6"/>
                          </a:solidFill>
                        </a:rPr>
                        <a:t>Judge: fail</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2000"/>
                        <a:buFont typeface="Arial"/>
                        <a:buNone/>
                      </a:pPr>
                      <a:r>
                        <a:rPr b="1" lang="en-US" sz="2000" u="none" cap="none" strike="noStrike">
                          <a:solidFill>
                            <a:schemeClr val="dk1"/>
                          </a:solidFill>
                        </a:rPr>
                        <a:t>Human: pass</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2000"/>
                        <a:buFont typeface="Arial"/>
                        <a:buNone/>
                      </a:pPr>
                      <a:r>
                        <a:rPr lang="en-US" sz="2000" u="none" cap="none" strike="noStrike">
                          <a:solidFill>
                            <a:schemeClr val="dk1"/>
                          </a:solidFill>
                        </a:rPr>
                        <a:t>93</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2000"/>
                        <a:buFont typeface="Arial"/>
                        <a:buNone/>
                      </a:pPr>
                      <a:r>
                        <a:rPr lang="en-US" sz="2000" u="none" cap="none" strike="noStrike">
                          <a:solidFill>
                            <a:schemeClr val="dk1"/>
                          </a:solidFill>
                        </a:rPr>
                        <a:t>0</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2000"/>
                        <a:buFont typeface="Arial"/>
                        <a:buNone/>
                      </a:pPr>
                      <a:r>
                        <a:rPr b="1" lang="en-US" sz="2000" u="none" cap="none" strike="noStrike">
                          <a:solidFill>
                            <a:schemeClr val="dk1"/>
                          </a:solidFill>
                        </a:rPr>
                        <a:t>Human: fail</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3"/>
                        </a:buClr>
                        <a:buSzPts val="2000"/>
                        <a:buFont typeface="Arial"/>
                        <a:buNone/>
                      </a:pPr>
                      <a:r>
                        <a:rPr b="1" lang="en-US" sz="2000" u="none" cap="none" strike="noStrike">
                          <a:solidFill>
                            <a:schemeClr val="accent3"/>
                          </a:solidFill>
                        </a:rPr>
                        <a:t>6</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2000"/>
                        <a:buFont typeface="Arial"/>
                        <a:buNone/>
                      </a:pPr>
                      <a:r>
                        <a:rPr lang="en-US" sz="2000" u="none" cap="none" strike="noStrike">
                          <a:solidFill>
                            <a:schemeClr val="dk1"/>
                          </a:solidFill>
                        </a:rPr>
                        <a:t>1</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526" name="Google Shape;526;p38"/>
          <p:cNvSpPr txBox="1"/>
          <p:nvPr/>
        </p:nvSpPr>
        <p:spPr>
          <a:xfrm>
            <a:off x="548640" y="4270248"/>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Consolas"/>
              <a:buNone/>
            </a:pPr>
            <a:r>
              <a:rPr b="0" i="0" lang="en-US" sz="1600" u="none" cap="none" strike="noStrike">
                <a:solidFill>
                  <a:schemeClr val="accent6"/>
                </a:solidFill>
                <a:latin typeface="Consolas"/>
                <a:ea typeface="Consolas"/>
                <a:cs typeface="Consolas"/>
                <a:sym typeface="Consolas"/>
              </a:rPr>
              <a:t>agreement = (93 + 1) / 100 = 94%</a:t>
            </a:r>
            <a:endParaRPr b="0" i="0" sz="1600" u="none" cap="none" strike="noStrike">
              <a:solidFill>
                <a:schemeClr val="dk1"/>
              </a:solidFill>
              <a:latin typeface="Arial"/>
              <a:ea typeface="Arial"/>
              <a:cs typeface="Arial"/>
              <a:sym typeface="Arial"/>
            </a:endParaRPr>
          </a:p>
        </p:txBody>
      </p:sp>
      <p:sp>
        <p:nvSpPr>
          <p:cNvPr id="527" name="Google Shape;527;p38"/>
          <p:cNvSpPr txBox="1"/>
          <p:nvPr/>
        </p:nvSpPr>
        <p:spPr>
          <a:xfrm>
            <a:off x="548640" y="4818888"/>
            <a:ext cx="54864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Always saying pass </a:t>
            </a:r>
            <a:r>
              <a:rPr b="0" i="0" lang="en-US" sz="1800" u="none" cap="none" strike="noStrike">
                <a:solidFill>
                  <a:schemeClr val="dk1"/>
                </a:solidFill>
                <a:latin typeface="Arial"/>
                <a:ea typeface="Arial"/>
                <a:cs typeface="Arial"/>
                <a:sym typeface="Arial"/>
              </a:rPr>
              <a:t>scores 93% for free. 94% is one point better</a:t>
            </a:r>
            <a:endParaRPr b="0" i="0" sz="1800" u="none" cap="none" strike="noStrike">
              <a:solidFill>
                <a:schemeClr val="dk1"/>
              </a:solidFill>
              <a:latin typeface="Arial"/>
              <a:ea typeface="Arial"/>
              <a:cs typeface="Arial"/>
              <a:sym typeface="Arial"/>
            </a:endParaRPr>
          </a:p>
        </p:txBody>
      </p:sp>
      <p:sp>
        <p:nvSpPr>
          <p:cNvPr id="528" name="Google Shape;528;p38"/>
          <p:cNvSpPr txBox="1"/>
          <p:nvPr/>
        </p:nvSpPr>
        <p:spPr>
          <a:xfrm>
            <a:off x="6949440" y="1527048"/>
            <a:ext cx="4572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0.24</a:t>
            </a:r>
            <a:endParaRPr b="0" i="0" sz="5400" u="none" cap="none" strike="noStrike">
              <a:solidFill>
                <a:schemeClr val="dk1"/>
              </a:solidFill>
              <a:latin typeface="Arial"/>
              <a:ea typeface="Arial"/>
              <a:cs typeface="Arial"/>
              <a:sym typeface="Arial"/>
            </a:endParaRPr>
          </a:p>
        </p:txBody>
      </p:sp>
      <p:sp>
        <p:nvSpPr>
          <p:cNvPr id="529" name="Google Shape;529;p38"/>
          <p:cNvSpPr txBox="1"/>
          <p:nvPr/>
        </p:nvSpPr>
        <p:spPr>
          <a:xfrm>
            <a:off x="6949440" y="2395728"/>
            <a:ext cx="45720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Cohen’s κ. The bar is 0.6</a:t>
            </a:r>
            <a:endParaRPr b="0" i="0" sz="1800" u="none" cap="none" strike="noStrike">
              <a:solidFill>
                <a:schemeClr val="dk1"/>
              </a:solidFill>
              <a:latin typeface="Arial"/>
              <a:ea typeface="Arial"/>
              <a:cs typeface="Arial"/>
              <a:sym typeface="Arial"/>
            </a:endParaRPr>
          </a:p>
        </p:txBody>
      </p:sp>
      <p:sp>
        <p:nvSpPr>
          <p:cNvPr id="530" name="Google Shape;530;p38"/>
          <p:cNvSpPr txBox="1"/>
          <p:nvPr/>
        </p:nvSpPr>
        <p:spPr>
          <a:xfrm>
            <a:off x="6949440" y="3447288"/>
            <a:ext cx="4572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1 of 7</a:t>
            </a:r>
            <a:endParaRPr b="0" i="0" sz="5400" u="none" cap="none" strike="noStrike">
              <a:solidFill>
                <a:schemeClr val="dk1"/>
              </a:solidFill>
              <a:latin typeface="Arial"/>
              <a:ea typeface="Arial"/>
              <a:cs typeface="Arial"/>
              <a:sym typeface="Arial"/>
            </a:endParaRPr>
          </a:p>
        </p:txBody>
      </p:sp>
      <p:sp>
        <p:nvSpPr>
          <p:cNvPr id="531" name="Google Shape;531;p38"/>
          <p:cNvSpPr txBox="1"/>
          <p:nvPr/>
        </p:nvSpPr>
        <p:spPr>
          <a:xfrm>
            <a:off x="6949440" y="4315968"/>
            <a:ext cx="45720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real failures caught. The judge passed the other 6</a:t>
            </a:r>
            <a:endParaRPr b="0" i="0" sz="1800" u="none" cap="none" strike="noStrike">
              <a:solidFill>
                <a:schemeClr val="dk1"/>
              </a:solidFill>
              <a:latin typeface="Arial"/>
              <a:ea typeface="Arial"/>
              <a:cs typeface="Arial"/>
              <a:sym typeface="Arial"/>
            </a:endParaRPr>
          </a:p>
        </p:txBody>
      </p:sp>
      <p:sp>
        <p:nvSpPr>
          <p:cNvPr id="532" name="Google Shape;532;p3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Look at the false-pass quadrant first: that is where the dangerous errors hide</a:t>
            </a:r>
            <a:endParaRPr b="0" i="0" sz="1800" u="none" cap="none" strike="noStrike">
              <a:solidFill>
                <a:schemeClr val="dk1"/>
              </a:solidFill>
              <a:latin typeface="Arial"/>
              <a:ea typeface="Arial"/>
              <a:cs typeface="Arial"/>
              <a:sym typeface="Arial"/>
            </a:endParaRPr>
          </a:p>
        </p:txBody>
      </p:sp>
      <p:sp>
        <p:nvSpPr>
          <p:cNvPr id="533" name="Google Shape;533;p3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Week 2 takeaways: build judges you can trust</a:t>
            </a:r>
            <a:endParaRPr sz="2200"/>
          </a:p>
        </p:txBody>
      </p:sp>
      <p:sp>
        <p:nvSpPr>
          <p:cNvPr id="540" name="Google Shape;540;p39"/>
          <p:cNvSpPr txBox="1"/>
          <p:nvPr/>
        </p:nvSpPr>
        <p:spPr>
          <a:xfrm>
            <a:off x="822960" y="166420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Four evaluator types</a:t>
            </a:r>
            <a:endParaRPr b="0" i="0" sz="2200" u="none" cap="none" strike="noStrike">
              <a:solidFill>
                <a:schemeClr val="dk1"/>
              </a:solidFill>
              <a:latin typeface="Arial"/>
              <a:ea typeface="Arial"/>
              <a:cs typeface="Arial"/>
              <a:sym typeface="Arial"/>
            </a:endParaRPr>
          </a:p>
        </p:txBody>
      </p:sp>
      <p:sp>
        <p:nvSpPr>
          <p:cNvPr id="541" name="Google Shape;541;p39"/>
          <p:cNvSpPr txBox="1"/>
          <p:nvPr/>
        </p:nvSpPr>
        <p:spPr>
          <a:xfrm>
            <a:off x="822960" y="207568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rule → code · judgment → judge · ground truth → human · outcomes → user feedback</a:t>
            </a:r>
            <a:endParaRPr b="0" i="0" sz="1900" u="none" cap="none" strike="noStrike">
              <a:solidFill>
                <a:schemeClr val="dk1"/>
              </a:solidFill>
              <a:latin typeface="Arial"/>
              <a:ea typeface="Arial"/>
              <a:cs typeface="Arial"/>
              <a:sym typeface="Arial"/>
            </a:endParaRPr>
          </a:p>
        </p:txBody>
      </p:sp>
      <p:sp>
        <p:nvSpPr>
          <p:cNvPr id="542" name="Google Shape;542;p39"/>
          <p:cNvSpPr txBox="1"/>
          <p:nvPr/>
        </p:nvSpPr>
        <p:spPr>
          <a:xfrm>
            <a:off x="822960" y="308152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Binary, single-question judges</a:t>
            </a:r>
            <a:endParaRPr b="0" i="0" sz="2200" u="none" cap="none" strike="noStrike">
              <a:solidFill>
                <a:schemeClr val="dk1"/>
              </a:solidFill>
              <a:latin typeface="Arial"/>
              <a:ea typeface="Arial"/>
              <a:cs typeface="Arial"/>
              <a:sym typeface="Arial"/>
            </a:endParaRPr>
          </a:p>
        </p:txBody>
      </p:sp>
      <p:sp>
        <p:nvSpPr>
          <p:cNvPr id="543" name="Google Shape;543;p39"/>
          <p:cNvSpPr txBox="1"/>
          <p:nvPr/>
        </p:nvSpPr>
        <p:spPr>
          <a:xfrm>
            <a:off x="822960" y="349300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auditor role, concrete standard, boundary examples</a:t>
            </a:r>
            <a:endParaRPr b="0" i="0" sz="1900" u="none" cap="none" strike="noStrike">
              <a:solidFill>
                <a:schemeClr val="dk1"/>
              </a:solidFill>
              <a:latin typeface="Arial"/>
              <a:ea typeface="Arial"/>
              <a:cs typeface="Arial"/>
              <a:sym typeface="Arial"/>
            </a:endParaRPr>
          </a:p>
        </p:txBody>
      </p:sp>
      <p:sp>
        <p:nvSpPr>
          <p:cNvPr id="544" name="Google Shape;544;p39"/>
          <p:cNvSpPr txBox="1"/>
          <p:nvPr/>
        </p:nvSpPr>
        <p:spPr>
          <a:xfrm>
            <a:off x="822960" y="449884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Humans agree first</a:t>
            </a:r>
            <a:endParaRPr b="0" i="0" sz="2200" u="none" cap="none" strike="noStrike">
              <a:solidFill>
                <a:schemeClr val="dk1"/>
              </a:solidFill>
              <a:latin typeface="Arial"/>
              <a:ea typeface="Arial"/>
              <a:cs typeface="Arial"/>
              <a:sym typeface="Arial"/>
            </a:endParaRPr>
          </a:p>
        </p:txBody>
      </p:sp>
      <p:sp>
        <p:nvSpPr>
          <p:cNvPr id="545" name="Google Shape;545;p39"/>
          <p:cNvSpPr txBox="1"/>
          <p:nvPr/>
        </p:nvSpPr>
        <p:spPr>
          <a:xfrm>
            <a:off x="822960" y="491032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if κ between annotators is low, no judge will agree either</a:t>
            </a:r>
            <a:endParaRPr b="0" i="0" sz="1900" u="none" cap="none" strike="noStrike">
              <a:solidFill>
                <a:schemeClr val="dk1"/>
              </a:solidFill>
              <a:latin typeface="Arial"/>
              <a:ea typeface="Arial"/>
              <a:cs typeface="Arial"/>
              <a:sym typeface="Arial"/>
            </a:endParaRPr>
          </a:p>
        </p:txBody>
      </p:sp>
      <p:sp>
        <p:nvSpPr>
          <p:cNvPr id="546" name="Google Shape;546;p39"/>
          <p:cNvSpPr txBox="1"/>
          <p:nvPr/>
        </p:nvSpPr>
        <p:spPr>
          <a:xfrm>
            <a:off x="6355080" y="166420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Validate every judge</a:t>
            </a:r>
            <a:endParaRPr b="0" i="0" sz="2200" u="none" cap="none" strike="noStrike">
              <a:solidFill>
                <a:schemeClr val="dk1"/>
              </a:solidFill>
              <a:latin typeface="Arial"/>
              <a:ea typeface="Arial"/>
              <a:cs typeface="Arial"/>
              <a:sym typeface="Arial"/>
            </a:endParaRPr>
          </a:p>
        </p:txBody>
      </p:sp>
      <p:sp>
        <p:nvSpPr>
          <p:cNvPr id="547" name="Google Shape;547;p39"/>
          <p:cNvSpPr txBox="1"/>
          <p:nvPr/>
        </p:nvSpPr>
        <p:spPr>
          <a:xfrm>
            <a:off x="6355080" y="207568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85% agreement, κ ≥ 0.6, every false pass read</a:t>
            </a:r>
            <a:endParaRPr b="0" i="0" sz="1900" u="none" cap="none" strike="noStrike">
              <a:solidFill>
                <a:schemeClr val="dk1"/>
              </a:solidFill>
              <a:latin typeface="Arial"/>
              <a:ea typeface="Arial"/>
              <a:cs typeface="Arial"/>
              <a:sym typeface="Arial"/>
            </a:endParaRPr>
          </a:p>
        </p:txBody>
      </p:sp>
      <p:sp>
        <p:nvSpPr>
          <p:cNvPr id="548" name="Google Shape;548;p39"/>
          <p:cNvSpPr txBox="1"/>
          <p:nvPr/>
        </p:nvSpPr>
        <p:spPr>
          <a:xfrm>
            <a:off x="6355080" y="308152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The false pass is the danger</a:t>
            </a:r>
            <a:endParaRPr b="0" i="0" sz="2200" u="none" cap="none" strike="noStrike">
              <a:solidFill>
                <a:schemeClr val="dk1"/>
              </a:solidFill>
              <a:latin typeface="Arial"/>
              <a:ea typeface="Arial"/>
              <a:cs typeface="Arial"/>
              <a:sym typeface="Arial"/>
            </a:endParaRPr>
          </a:p>
        </p:txBody>
      </p:sp>
      <p:sp>
        <p:nvSpPr>
          <p:cNvPr id="549" name="Google Shape;549;p39"/>
          <p:cNvSpPr txBox="1"/>
          <p:nvPr/>
        </p:nvSpPr>
        <p:spPr>
          <a:xfrm>
            <a:off x="6355080" y="349300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a false fail wastes time, a false pass ships harm</a:t>
            </a:r>
            <a:endParaRPr b="0" i="0" sz="1900" u="none" cap="none" strike="noStrike">
              <a:solidFill>
                <a:schemeClr val="dk1"/>
              </a:solidFill>
              <a:latin typeface="Arial"/>
              <a:ea typeface="Arial"/>
              <a:cs typeface="Arial"/>
              <a:sym typeface="Arial"/>
            </a:endParaRPr>
          </a:p>
        </p:txBody>
      </p:sp>
      <p:sp>
        <p:nvSpPr>
          <p:cNvPr id="550" name="Google Shape;550;p39"/>
          <p:cNvSpPr txBox="1"/>
          <p:nvPr/>
        </p:nvSpPr>
        <p:spPr>
          <a:xfrm>
            <a:off x="6355080" y="449884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A/B per metric</a:t>
            </a:r>
            <a:endParaRPr b="0" i="0" sz="2200" u="none" cap="none" strike="noStrike">
              <a:solidFill>
                <a:schemeClr val="dk1"/>
              </a:solidFill>
              <a:latin typeface="Arial"/>
              <a:ea typeface="Arial"/>
              <a:cs typeface="Arial"/>
              <a:sym typeface="Arial"/>
            </a:endParaRPr>
          </a:p>
        </p:txBody>
      </p:sp>
      <p:sp>
        <p:nvSpPr>
          <p:cNvPr id="551" name="Google Shape;551;p39"/>
          <p:cNvSpPr txBox="1"/>
          <p:nvPr/>
        </p:nvSpPr>
        <p:spPr>
          <a:xfrm>
            <a:off x="6355080" y="491032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same suite, one change, read each delta separately</a:t>
            </a:r>
            <a:endParaRPr b="0" i="0" sz="1900" u="none" cap="none" strike="noStrike">
              <a:solidFill>
                <a:schemeClr val="dk1"/>
              </a:solidFill>
              <a:latin typeface="Arial"/>
              <a:ea typeface="Arial"/>
              <a:cs typeface="Arial"/>
              <a:sym typeface="Arial"/>
            </a:endParaRPr>
          </a:p>
        </p:txBody>
      </p:sp>
      <p:sp>
        <p:nvSpPr>
          <p:cNvPr id="552" name="Google Shape;552;p3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0"/>
          <p:cNvSpPr txBox="1"/>
          <p:nvPr/>
        </p:nvSpPr>
        <p:spPr>
          <a:xfrm>
            <a:off x="1188720" y="2148840"/>
            <a:ext cx="5669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Thank you!</a:t>
            </a:r>
            <a:endParaRPr b="0" i="0" sz="3200" u="none" cap="none" strike="noStrike">
              <a:solidFill>
                <a:schemeClr val="dk1"/>
              </a:solidFill>
              <a:latin typeface="Arial"/>
              <a:ea typeface="Arial"/>
              <a:cs typeface="Arial"/>
              <a:sym typeface="Arial"/>
            </a:endParaRPr>
          </a:p>
        </p:txBody>
      </p:sp>
      <p:sp>
        <p:nvSpPr>
          <p:cNvPr id="559" name="Google Shape;559;p40"/>
          <p:cNvSpPr txBox="1"/>
          <p:nvPr/>
        </p:nvSpPr>
        <p:spPr>
          <a:xfrm>
            <a:off x="1188720" y="2971800"/>
            <a:ext cx="56692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Next steps: complete Project 2</a:t>
            </a:r>
            <a:endParaRPr b="0" i="0" sz="2200" u="none" cap="none" strike="noStrike">
              <a:solidFill>
                <a:schemeClr val="dk1"/>
              </a:solidFill>
              <a:latin typeface="Arial"/>
              <a:ea typeface="Arial"/>
              <a:cs typeface="Arial"/>
              <a:sym typeface="Arial"/>
            </a:endParaRPr>
          </a:p>
          <a:p>
            <a:pPr indent="0" lvl="0" marL="0" marR="0" rtl="0" algn="l">
              <a:spcBef>
                <a:spcPts val="6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and prepare for week 3</a:t>
            </a:r>
            <a:endParaRPr b="0" i="0" sz="2200" u="none" cap="none" strike="noStrike">
              <a:solidFill>
                <a:schemeClr val="dk1"/>
              </a:solidFill>
              <a:latin typeface="Arial"/>
              <a:ea typeface="Arial"/>
              <a:cs typeface="Arial"/>
              <a:sym typeface="Arial"/>
            </a:endParaRPr>
          </a:p>
        </p:txBody>
      </p:sp>
      <p:pic>
        <p:nvPicPr>
          <p:cNvPr descr="Illustration from the instructor's original closing slide" id="560" name="Google Shape;560;p40"/>
          <p:cNvPicPr preferRelativeResize="0"/>
          <p:nvPr/>
        </p:nvPicPr>
        <p:blipFill rotWithShape="1">
          <a:blip r:embed="rId3">
            <a:alphaModFix/>
          </a:blip>
          <a:srcRect b="0" l="0" r="0" t="0"/>
          <a:stretch/>
        </p:blipFill>
        <p:spPr>
          <a:xfrm>
            <a:off x="7223760" y="1463040"/>
            <a:ext cx="3931920" cy="3931920"/>
          </a:xfrm>
          <a:prstGeom prst="rect">
            <a:avLst/>
          </a:prstGeom>
          <a:noFill/>
          <a:ln>
            <a:noFill/>
          </a:ln>
        </p:spPr>
      </p:pic>
      <p:sp>
        <p:nvSpPr>
          <p:cNvPr id="561" name="Google Shape;561;p4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h70ccc1f0afe26dab_0_19"/>
          <p:cNvSpPr txBox="1"/>
          <p:nvPr>
            <p:ph type="title"/>
          </p:nvPr>
        </p:nvSpPr>
        <p:spPr>
          <a:xfrm>
            <a:off x="166000" y="2743200"/>
            <a:ext cx="4629600" cy="1371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Show your work and Tag me on LinkedIn</a:t>
            </a:r>
            <a:endParaRPr/>
          </a:p>
        </p:txBody>
      </p:sp>
      <p:pic>
        <p:nvPicPr>
          <p:cNvPr id="568" name="Google Shape;568;h70ccc1f0afe26dab_0_19"/>
          <p:cNvPicPr preferRelativeResize="0"/>
          <p:nvPr/>
        </p:nvPicPr>
        <p:blipFill>
          <a:blip r:embed="rId3">
            <a:alphaModFix/>
          </a:blip>
          <a:stretch>
            <a:fillRect/>
          </a:stretch>
        </p:blipFill>
        <p:spPr>
          <a:xfrm>
            <a:off x="5292575" y="1660025"/>
            <a:ext cx="6017075" cy="3818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2026-10-03T19:43:29Z</dcterms:created>
  <dc:creator>Manjeet Singh</dc:creator>
</cp:coreProperties>
</file>