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42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Week 1: Eval Foundations &amp;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9D4CC"/>
                </a:solidFill>
                <a:latin typeface="Calibri"/>
              </a:rPr>
              <a:t>3 skills that turn production failures into datasets  (tactics matched to your learning style)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91640"/>
          <a:ext cx="1136598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133343"/>
                <a:gridCol w="3133343"/>
                <a:gridCol w="3133343"/>
              </a:tblGrid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Read / Listen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Shadow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Error analysis &amp; failure taxonomies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Hamel Husain “Your AI Product Needs Evals”; Eugene Yan’s evals essays (eugeneyan.com); Anthropic “Building Effective Agents” (tracing section)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Run 30 Pronto inputs, annotate pass/fail, cluster into 5+ binary failure codes; ship taxonomy.md with top 3 modes + 1 anomaly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Sit with support triaging real tickets; watch a senior annotate production traces and narrate their codes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Tracing &amp; observability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LangSmith tracing docs; OpenAI “A Practical Guide to Building Agents” (observability)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Trace every Pronto run in LangSmith or the course Trace Viewer; export your annotations.csv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Watch an on-call engineer debug a live agent incident straight from traces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Eval design basics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Eugene Yan on why benchmarks mislead; the six quality dimensions: model, product, safety, reliability, cost, latency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Score the same Pronto outputs on model quality vs product behavior vs cost/latency; answer the 2-question pre-survey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Join a launch review; listen for which quality dimension blocks the ship call</a:t>
                      </a:r>
                    </a:p>
                  </a:txBody>
                  <a:tcPr anchor="t" marL="109728" marR="109728" marT="73152" marB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59A"/>
                </a:solidFill>
                <a:latin typeface="Calibri"/>
              </a:rPr>
              <a:t>AI Evals in Practice · ByteByteGo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42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Week 2: Designing Reliable LLM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9D4CC"/>
                </a:solidFill>
                <a:latin typeface="Calibri"/>
              </a:rPr>
              <a:t>3 skills that make judges you can gate on  (tactics matched to your learning style)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91640"/>
          <a:ext cx="1136598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133343"/>
                <a:gridCol w="3133343"/>
                <a:gridCol w="3133343"/>
              </a:tblGrid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Read / Listen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Shadow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Writing binary rubrics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Braintrust scorers docs; judge-prompt anatomy: task, criteria, output format, examples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Write 3 single-criterion binary rubrics as Braintrust scorers; play the Judge Calibration Game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Co-write a rubric with a teammate; argue edge cases until the criterion is airtight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Judge–human agreement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Zheng et al. “Judging LLM-as-a-Judge” (MT-Bench paper); Eugene Yan’s AlignEval walkthrough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Hand-label 40 outputs, run the judges, build the agreement matrix, compute Cohen’s kappa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Adjudicate disagreements with a partner — each defended label is a rubric fix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Trust gates &amp; error analysis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False-pass vs false-fail costs; “false passes are the expensive error”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Diagnose your worst judge failure, change ONE thing, A/B test, make a ship/no-ship call with numbers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Watch a senior kill a judge that “looked fine” — ask what its false-pass rate was</a:t>
                      </a:r>
                    </a:p>
                  </a:txBody>
                  <a:tcPr anchor="t" marL="109728" marR="109728" marT="73152" marB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59A"/>
                </a:solidFill>
                <a:latin typeface="Calibri"/>
              </a:rPr>
              <a:t>AI Evals in Practice · ByteByteGo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42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Week 3: Safety &amp; Adversarial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9D4CC"/>
                </a:solidFill>
                <a:latin typeface="Calibri"/>
              </a:rPr>
              <a:t>3 skills that keep your agent from misbehaving  (tactics matched to your learning style)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91640"/>
          <a:ext cx="1136598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133343"/>
                <a:gridCol w="3133343"/>
                <a:gridCol w="3133343"/>
              </a:tblGrid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Shadow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Attack-surface thinking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OWASP Top 10 for LLM Applications; Simon Willison’s prompt-injection archive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Map every input channel, tool, and output of the Pronto agent as attacker-controlled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Sit in on a security review; count how many “trusted” inputs get challenged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Red teaming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Promptfoo red-teaming docs; attack categories: injection, jailbreak, leakage, bias, harmful content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Play Lakera Gandalf to feel prompt injection; run a Promptfoo baseline scan + 5 hand-crafted attacks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Watch an experienced red-teamer work; steal their opening 3 moves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Guardrails &amp; HITL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Guardrail confusion matrices; layering defenses (regex · LLM judge · hybrid)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Build 3 guardrails; score catch rate vs over-block rate; wire a human-in-the-loop approval flow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Review a guardrail incident — one catch and one over-block — with the owning team</a:t>
                      </a:r>
                    </a:p>
                  </a:txBody>
                  <a:tcPr anchor="t" marL="109728" marR="109728" marT="73152" marB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59A"/>
                </a:solidFill>
                <a:latin typeface="Calibri"/>
              </a:rPr>
              <a:t>AI Evals in Practice · ByteByteGo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42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Week 4: RAG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9D4CC"/>
                </a:solidFill>
                <a:latin typeface="Calibri"/>
              </a:rPr>
              <a:t>3 skills that separate retrieval failures from generation failures  (tactics matched to your learning style)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91640"/>
          <a:ext cx="1136598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133343"/>
                <a:gridCol w="3133343"/>
                <a:gridCol w="3133343"/>
              </a:tblGrid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Golden-set construction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RAGAS paper (Shahul et al.) on eval design; Braintrust dataset docs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Build a 150+ case golden set (question · contexts · ground truth); hand-validate 30; pin v1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Report label-correctness on your 30 hand-checked cases before trusting the rest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Component-wise scoring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“Lost in the Middle” (Liu et al.) on context use; Braintrust’s 4 RAG scorers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Run faithfulness, answer relevance, context precision, context recall as separate scorers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Attribute each failure to retrieval vs generation; fix the worse half first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Statistical rigor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Sample size, paired tests, bootstrap confidence intervals (course notes + any stats refresher)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One-config reproducible harness; paired bootstrap test in one command → report.md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Never report a point estimate again — CIs on every comparison, held-out re-test before claiming victory</a:t>
                      </a:r>
                    </a:p>
                  </a:txBody>
                  <a:tcPr anchor="t" marL="109728" marR="109728" marT="73152" marB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59A"/>
                </a:solidFill>
                <a:latin typeface="Calibri"/>
              </a:rPr>
              <a:t>AI Evals in Practice · ByteByteGo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42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Week 5: Multi-Agent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9D4CC"/>
                </a:solidFill>
                <a:latin typeface="Calibri"/>
              </a:rPr>
              <a:t>3 skills for scoring systems, not just models  (tactics matched to your learning style)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91640"/>
          <a:ext cx="1136598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133343"/>
                <a:gridCol w="3133343"/>
                <a:gridCol w="3133343"/>
              </a:tblGrid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Shadow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Trajectory evaluation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Tau-bench paper (Sierra) on agentic evals; LangSmith trajectory docs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Capture full tool trajectories on pronto_crew.py; judge properties (right tools, right order, no extra calls), not exact match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Replay a failing trajectory with a senior; narrate where it went wrong before they do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Tool-call scoring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CrewAI docs (agents, tasks, tools); expected-action sets; argument validation as structured-output eval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Write 15+ expected-action records with an extra-call policy; score argument validity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Watch a tool-misuse failure get root-caused to a vague tool description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Handoffs &amp; interaction failures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Handoff contracts: completeness, fidelity, routing; cascading failures in pipelines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Wire the A→B→A handoff on 10+ scenarios; write the 3-layer report (model vs agent vs system gap)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Sit through a multi-agent incident review; map each failure to its handoff</a:t>
                      </a:r>
                    </a:p>
                  </a:txBody>
                  <a:tcPr anchor="t" marL="109728" marR="109728" marT="73152" marB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59A"/>
                </a:solidFill>
                <a:latin typeface="Calibri"/>
              </a:rPr>
              <a:t>AI Evals in Practice · ByteByteGo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42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Week 6: Production Eval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9D4CC"/>
                </a:solidFill>
                <a:latin typeface="Calibri"/>
              </a:rPr>
              <a:t>3 skills that make evals compound in production  (tactics matched to your learning style)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91640"/>
          <a:ext cx="1136598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133343"/>
                <a:gridCol w="3133343"/>
                <a:gridCol w="3133343"/>
              </a:tblGrid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Own</a:t>
                      </a:r>
                    </a:p>
                  </a:txBody>
                  <a:tcPr anchor="t" marL="109728" marR="109728" marT="73152" marB="73152">
                    <a:solidFill>
                      <a:srgbClr val="EEF1ED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Eval gates in CI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GitHub Actions docs; the course starter .github/workflows/eval-gate.yml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Wire eval-gate.yml (PR fast subset + nightly regression); break it on purpose and watch the gate block the PR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Write your blocking-vs-logged policy where the team can see it; defend it in review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Production monitoring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Google SRE Workbook (monitoring/alerting); Martin Fowler on canary releases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Sampling pipeline + drift canary + alert thresholds: what pages vs what waits for morning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Name the eval owner and the weekly review cadence — no owner, no flywheel</a:t>
                      </a:r>
                    </a:p>
                  </a:txBody>
                  <a:tcPr anchor="t" marL="109728" marR="109728" marT="73152" marB="73152"/>
                </a:tc>
              </a:tr>
              <a:tr h="11772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Decision gates &amp; the flywheel</a:t>
                      </a:r>
                    </a:p>
                  </a:txBody>
                  <a:tcPr anchor="t" marL="109728" marR="109728" marT="73152" marB="73152">
                    <a:solidFill>
                      <a:srgbClr val="F7F9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Thresholds from business impact; fix prioritization by frequency × cost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Write the decision memo — one page: what evals said, what shipped, what didn’t, what’s fixed first and why</a:t>
                      </a:r>
                    </a:p>
                  </a:txBody>
                  <a:tcPr anchor="t" marL="109728" marR="109728" marT="73152" marB="73152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A554A"/>
                          </a:solidFill>
                          <a:latin typeface="Calibri"/>
                        </a:rPr>
                        <a:t>Re-answer the Week 1 two questions; file every incident as a future regression test</a:t>
                      </a:r>
                    </a:p>
                  </a:txBody>
                  <a:tcPr anchor="t" marL="109728" marR="109728" marT="73152" marB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59A"/>
                </a:solidFill>
                <a:latin typeface="Calibri"/>
              </a:rPr>
              <a:t>AI Evals in Practice · ByteByteGo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